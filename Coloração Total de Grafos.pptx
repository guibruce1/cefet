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305" r:id="rId5"/>
    <p:sldId id="320" r:id="rId6"/>
    <p:sldId id="321" r:id="rId7"/>
    <p:sldId id="322" r:id="rId8"/>
    <p:sldId id="323" r:id="rId9"/>
    <p:sldId id="344" r:id="rId10"/>
    <p:sldId id="356" r:id="rId11"/>
    <p:sldId id="343" r:id="rId12"/>
    <p:sldId id="325" r:id="rId13"/>
    <p:sldId id="326" r:id="rId14"/>
    <p:sldId id="327" r:id="rId15"/>
    <p:sldId id="328" r:id="rId16"/>
    <p:sldId id="329" r:id="rId17"/>
    <p:sldId id="345" r:id="rId18"/>
    <p:sldId id="346" r:id="rId19"/>
    <p:sldId id="342" r:id="rId20"/>
    <p:sldId id="350" r:id="rId21"/>
    <p:sldId id="312" r:id="rId22"/>
    <p:sldId id="352" r:id="rId23"/>
    <p:sldId id="353" r:id="rId24"/>
    <p:sldId id="354" r:id="rId25"/>
    <p:sldId id="357" r:id="rId26"/>
    <p:sldId id="358" r:id="rId27"/>
    <p:sldId id="330" r:id="rId28"/>
    <p:sldId id="348" r:id="rId29"/>
    <p:sldId id="359" r:id="rId30"/>
    <p:sldId id="349" r:id="rId31"/>
    <p:sldId id="331" r:id="rId32"/>
    <p:sldId id="360" r:id="rId33"/>
    <p:sldId id="332" r:id="rId34"/>
    <p:sldId id="333" r:id="rId35"/>
    <p:sldId id="347" r:id="rId36"/>
    <p:sldId id="334" r:id="rId37"/>
    <p:sldId id="335" r:id="rId38"/>
    <p:sldId id="336" r:id="rId39"/>
    <p:sldId id="311" r:id="rId40"/>
    <p:sldId id="337" r:id="rId41"/>
    <p:sldId id="338" r:id="rId42"/>
    <p:sldId id="339" r:id="rId43"/>
    <p:sldId id="340" r:id="rId44"/>
    <p:sldId id="355" r:id="rId45"/>
    <p:sldId id="30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9CBC3-E3BD-08D6-C74F-764E207CC5B2}" v="299" dt="2025-02-12T17:53:24.596"/>
    <p1510:client id="{47B8E709-3EEF-3008-73A0-39CF774AD653}" v="141" dt="2025-02-13T14:28:11.169"/>
    <p1510:client id="{4B22C57A-FDF6-D7E6-CA7A-C6C25C145F5D}" v="109" dt="2025-02-12T03:26:39.661"/>
    <p1510:client id="{5B544683-A62C-A2C5-2407-FF9CF06721D9}" v="171" dt="2025-02-12T16:03:02.438"/>
    <p1510:client id="{682C4AF0-8603-D11D-A005-999747DC25EB}" v="22" dt="2025-02-13T18:00:19.123"/>
    <p1510:client id="{701F8BC2-483B-D303-613A-666101272A0D}" v="153" dt="2025-02-13T10:56:47.916"/>
    <p1510:client id="{777024EC-5C6D-5D70-7132-5F1393E57A42}" v="343" dt="2025-02-12T15:30:58.523"/>
    <p1510:client id="{7A7FFC27-BF8F-287F-F05B-12F5D4A28C13}" v="170" dt="2025-02-13T03:35:23.970"/>
    <p1510:client id="{98668BA2-A952-E346-7DF7-47947DBB2CFD}" v="75" dt="2025-02-12T18:04:36.649"/>
    <p1510:client id="{98A7F44A-E233-4941-C344-FC92D2CABEDC}" v="49" dt="2025-02-13T03:41:22.367"/>
    <p1510:client id="{A546B7A2-6556-1423-5E9F-94A65BBA6878}" v="63" dt="2025-02-12T15:35:13.665"/>
    <p1510:client id="{A643BCC1-A055-E464-CF71-BF96337B039C}" v="7" dt="2025-02-12T18:00:34.438"/>
    <p1510:client id="{B9C46AE5-94FF-8FF3-A5E4-6AA1447BA485}" v="31" dt="2025-02-13T16:44:31.120"/>
    <p1510:client id="{E7DD7A6C-782A-5325-8D0A-DABBD2ACEEFD}" v="75" dt="2025-02-12T23:43:13.868"/>
    <p1510:client id="{EAA69B8B-26D3-0729-8955-E57E0369DAA8}" v="30" dt="2025-02-13T00:09:34.444"/>
    <p1510:client id="{F239EAA2-1983-C103-7AF4-67DACC9010CE}" v="554" dt="2025-02-13T15:02:15.604"/>
    <p1510:client id="{F483632A-4135-8A61-9B46-CDD20FE324AD}" v="14" dt="2025-02-12T15:05:45.964"/>
    <p1510:client id="{FFEE2B83-0249-B43C-8F69-14D517CE36CC}" v="19" dt="2025-02-12T03:34:23.110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2/13/2025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‹nº›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4" name="Espaço Reservado para Conteúdo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4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3-662-70107-2" TargetMode="External"/><Relationship Id="rId2" Type="http://schemas.openxmlformats.org/officeDocument/2006/relationships/hyperlink" Target="https://link.springer.com/book/10.1007/BFb0092895" TargetMode="Externa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oi.org/10.1007/s10878-015-9870-1" TargetMode="External"/><Relationship Id="rId4" Type="http://schemas.openxmlformats.org/officeDocument/2006/relationships/hyperlink" Target="https://repositorio.ipv.pt/entities/publication/c130d938-9174-42af-92cd-653f80287656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3700" y="2973928"/>
            <a:ext cx="11097440" cy="92935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err="1"/>
              <a:t>Coloraçao</a:t>
            </a:r>
            <a:r>
              <a:rPr lang="en-US"/>
              <a:t> Total de </a:t>
            </a:r>
            <a:r>
              <a:rPr lang="en-US" err="1"/>
              <a:t>Grafos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56A54F-48BB-4713-84AD-231FD805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607" y="6319022"/>
            <a:ext cx="6884684" cy="543406"/>
          </a:xfrm>
          <a:ln>
            <a:noFill/>
          </a:ln>
        </p:spPr>
        <p:txBody>
          <a:bodyPr/>
          <a:lstStyle/>
          <a:p>
            <a:r>
              <a:rPr lang="en-US" sz="1600"/>
              <a:t>MEMBROS: Guilherme </a:t>
            </a:r>
            <a:r>
              <a:rPr lang="en-US" sz="1600" err="1"/>
              <a:t>andrade</a:t>
            </a:r>
            <a:r>
              <a:rPr lang="en-US" sz="1600"/>
              <a:t>, Guilherme Bruce, Rafael </a:t>
            </a:r>
            <a:r>
              <a:rPr lang="en-US" sz="1600" err="1"/>
              <a:t>Penela</a:t>
            </a:r>
            <a:r>
              <a:rPr lang="en-US" sz="1600"/>
              <a:t>, Rafael Sanches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9D8E6-AA49-1C2A-2EAA-B68BE27B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9EF6B23-0E2B-98C9-335A-F46EBAA6CC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2</a:t>
            </a:fld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5D911E5-991C-9267-8219-340DA76A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Tópicos da Apresentação</a:t>
            </a:r>
          </a:p>
        </p:txBody>
      </p:sp>
      <p:sp>
        <p:nvSpPr>
          <p:cNvPr id="8" name="Espaço Reservado para Texto 4">
            <a:extLst>
              <a:ext uri="{FF2B5EF4-FFF2-40B4-BE49-F238E27FC236}">
                <a16:creationId xmlns:a16="http://schemas.microsoft.com/office/drawing/2014/main" id="{2487DA8D-C3FA-82E5-289C-914B1390F6EA}"/>
              </a:ext>
            </a:extLst>
          </p:cNvPr>
          <p:cNvSpPr txBox="1">
            <a:spLocks/>
          </p:cNvSpPr>
          <p:nvPr/>
        </p:nvSpPr>
        <p:spPr>
          <a:xfrm>
            <a:off x="841248" y="1526814"/>
            <a:ext cx="10476987" cy="37898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7472" indent="-347472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pt-br"/>
              <a:t>Conceitos básicos e definições</a:t>
            </a:r>
            <a:endParaRPr lang="en-US"/>
          </a:p>
          <a:p>
            <a:pPr marL="514350" indent="-514350">
              <a:buAutoNum type="arabicPeriod"/>
            </a:pPr>
            <a:r>
              <a:rPr lang="pt-br"/>
              <a:t>Principais Resultados</a:t>
            </a:r>
          </a:p>
          <a:p>
            <a:pPr marL="514350" indent="-514350">
              <a:buAutoNum type="arabicPeriod"/>
            </a:pPr>
            <a:r>
              <a:rPr lang="pt-br"/>
              <a:t>Aplicações </a:t>
            </a:r>
          </a:p>
          <a:p>
            <a:pPr marL="514350" indent="-514350">
              <a:buAutoNum type="arabicPeriod"/>
            </a:pPr>
            <a:r>
              <a:rPr lang="pt-BR"/>
              <a:t>Conclusões</a:t>
            </a:r>
          </a:p>
          <a:p>
            <a:pPr marL="347345" indent="-347345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13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6E4C7-AF74-7DBA-80F9-D8C4366E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180A4-EC3D-729E-0BC2-214F3730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sz="1300" err="1"/>
              <a:t>Seção</a:t>
            </a:r>
            <a:r>
              <a:rPr lang="en-US" sz="1300"/>
              <a:t> 1</a:t>
            </a:r>
            <a:br>
              <a:rPr lang="en-US" sz="1300"/>
            </a:br>
            <a:br>
              <a:rPr lang="en-US" sz="1300"/>
            </a:br>
            <a:endParaRPr lang="en-US" sz="13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B5588-CEE8-637B-EFB5-D83CC248F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2351" y="2715649"/>
            <a:ext cx="5579873" cy="1946807"/>
          </a:xfrm>
        </p:spPr>
        <p:txBody>
          <a:bodyPr vert="horz" lIns="0" tIns="0" rIns="0" bIns="0" rtlCol="0" anchor="t">
            <a:normAutofit fontScale="4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sz="11800" err="1"/>
              <a:t>Conceitos</a:t>
            </a:r>
            <a:r>
              <a:rPr lang="en-US"/>
              <a:t> </a:t>
            </a:r>
            <a:r>
              <a:rPr lang="en-US" sz="11800" err="1"/>
              <a:t>Básicos</a:t>
            </a:r>
            <a:r>
              <a:rPr lang="en-US" sz="11800"/>
              <a:t> e </a:t>
            </a:r>
            <a:r>
              <a:rPr lang="en-US" sz="11800" err="1"/>
              <a:t>Definições</a:t>
            </a:r>
            <a:endParaRPr lang="en-US" sz="11800"/>
          </a:p>
          <a:p>
            <a:pPr algn="ctr">
              <a:lnSpc>
                <a:spcPct val="120000"/>
              </a:lnSpc>
            </a:pP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6ADE07-2433-D53D-24BE-34402CC1C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4946" y="1266452"/>
            <a:ext cx="4890407" cy="48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1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878D-5998-1576-E3BC-8143C6A2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2C52-D424-FB76-82FC-29F6BC6C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>
            <a:normAutofit/>
          </a:bodyPr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br>
              <a:rPr lang="en-US"/>
            </a:br>
            <a:endParaRPr lang="en-US"/>
          </a:p>
        </p:txBody>
      </p:sp>
      <p:pic>
        <p:nvPicPr>
          <p:cNvPr id="3" name="Picture 2" descr="Total coloring - Wikipedia">
            <a:extLst>
              <a:ext uri="{FF2B5EF4-FFF2-40B4-BE49-F238E27FC236}">
                <a16:creationId xmlns:a16="http://schemas.microsoft.com/office/drawing/2014/main" id="{68C7175E-147B-651B-D445-BDC965F2E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" y="1536192"/>
            <a:ext cx="3785616" cy="3785616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EC2DAF-6D74-8519-24B6-214A3B078D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 vert="horz" lIns="0" tIns="0" rIns="0" bIns="0" rtlCol="0">
            <a:normAutofit/>
          </a:bodyPr>
          <a:lstStyle/>
          <a:p>
            <a:pPr marL="347345" indent="-347345"/>
            <a:endParaRPr lang="en-US" cap="all"/>
          </a:p>
          <a:p>
            <a:pPr marL="347345" indent="-347345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35419-2E04-7C38-3611-AA06A535A5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A532CE5-3495-BDA9-0CA5-A21D21D2AA62}"/>
              </a:ext>
            </a:extLst>
          </p:cNvPr>
          <p:cNvSpPr txBox="1">
            <a:spLocks/>
          </p:cNvSpPr>
          <p:nvPr/>
        </p:nvSpPr>
        <p:spPr>
          <a:xfrm>
            <a:off x="4760106" y="2231305"/>
            <a:ext cx="6150379" cy="23808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345" indent="-347345"/>
            <a:r>
              <a:rPr lang="en-US" sz="2400"/>
              <a:t>Pode-se </a:t>
            </a:r>
            <a:r>
              <a:rPr lang="en-US" sz="2400" err="1"/>
              <a:t>definir</a:t>
            </a:r>
            <a:r>
              <a:rPr lang="en-US" sz="2400"/>
              <a:t> a </a:t>
            </a:r>
            <a:r>
              <a:rPr lang="en-US" sz="2400" err="1"/>
              <a:t>coloração</a:t>
            </a:r>
            <a:r>
              <a:rPr lang="en-US" sz="2400"/>
              <a:t> total de </a:t>
            </a:r>
            <a:r>
              <a:rPr lang="en-US" sz="2400" err="1"/>
              <a:t>grafos</a:t>
            </a:r>
            <a:r>
              <a:rPr lang="en-US" sz="2400"/>
              <a:t> </a:t>
            </a:r>
            <a:r>
              <a:rPr lang="en-US" sz="2400" err="1"/>
              <a:t>como</a:t>
            </a:r>
            <a:r>
              <a:rPr lang="en-US" sz="2400"/>
              <a:t> um </a:t>
            </a:r>
            <a:r>
              <a:rPr lang="en-US" sz="2400" err="1"/>
              <a:t>mapeamento</a:t>
            </a:r>
            <a:r>
              <a:rPr lang="en-US" sz="2400"/>
              <a:t> de V E(𝐺) para um conjunto C, </a:t>
            </a:r>
            <a:r>
              <a:rPr lang="en-US" sz="2400" err="1"/>
              <a:t>elementos</a:t>
            </a:r>
            <a:r>
              <a:rPr lang="en-US" sz="2400"/>
              <a:t> </a:t>
            </a:r>
            <a:r>
              <a:rPr lang="en-US" sz="2400" err="1"/>
              <a:t>adjacentes</a:t>
            </a:r>
            <a:r>
              <a:rPr lang="en-US" sz="2400"/>
              <a:t> </a:t>
            </a:r>
            <a:r>
              <a:rPr lang="en-US" sz="2400" err="1"/>
              <a:t>ou</a:t>
            </a:r>
            <a:r>
              <a:rPr lang="en-US" sz="2400"/>
              <a:t> </a:t>
            </a:r>
            <a:r>
              <a:rPr lang="en-US" sz="2400" err="1"/>
              <a:t>incidentes</a:t>
            </a:r>
            <a:r>
              <a:rPr lang="en-US" sz="2400"/>
              <a:t>, </a:t>
            </a:r>
            <a:r>
              <a:rPr lang="en-US" sz="2400" err="1"/>
              <a:t>quer</a:t>
            </a:r>
            <a:r>
              <a:rPr lang="en-US" sz="2400"/>
              <a:t> </a:t>
            </a:r>
            <a:r>
              <a:rPr lang="en-US" sz="2400" err="1"/>
              <a:t>sejam</a:t>
            </a:r>
            <a:r>
              <a:rPr lang="en-US" sz="2400"/>
              <a:t> </a:t>
            </a:r>
            <a:r>
              <a:rPr lang="en-US" sz="2400" err="1"/>
              <a:t>vértices</a:t>
            </a:r>
            <a:r>
              <a:rPr lang="en-US" sz="2400"/>
              <a:t> </a:t>
            </a:r>
            <a:r>
              <a:rPr lang="en-US" sz="2400" err="1"/>
              <a:t>ou</a:t>
            </a:r>
            <a:r>
              <a:rPr lang="en-US" sz="2400"/>
              <a:t> </a:t>
            </a:r>
            <a:r>
              <a:rPr lang="en-US" sz="2400" err="1"/>
              <a:t>arestas</a:t>
            </a:r>
            <a:r>
              <a:rPr lang="en-US" sz="2400"/>
              <a:t>, </a:t>
            </a:r>
            <a:r>
              <a:rPr lang="en-US" sz="2400" err="1"/>
              <a:t>possuam</a:t>
            </a:r>
            <a:r>
              <a:rPr lang="en-US" sz="2400"/>
              <a:t> a </a:t>
            </a:r>
            <a:r>
              <a:rPr lang="en-US" sz="2400" err="1"/>
              <a:t>mesmma</a:t>
            </a:r>
            <a:r>
              <a:rPr lang="en-US" sz="2400"/>
              <a:t> </a:t>
            </a:r>
            <a:r>
              <a:rPr lang="en-US" sz="2400" err="1"/>
              <a:t>cor</a:t>
            </a:r>
            <a:endParaRPr lang="en-US" sz="2400"/>
          </a:p>
          <a:p>
            <a:pPr marL="347345" indent="-347345"/>
            <a:r>
              <a:rPr lang="en-US" sz="2400" err="1"/>
              <a:t>Portanto</a:t>
            </a:r>
            <a:r>
              <a:rPr lang="en-US" sz="2400"/>
              <a:t>, é </a:t>
            </a:r>
            <a:r>
              <a:rPr lang="en-US" sz="2400" err="1"/>
              <a:t>simultaneamente</a:t>
            </a:r>
            <a:r>
              <a:rPr lang="en-US" sz="2400"/>
              <a:t> a </a:t>
            </a:r>
            <a:r>
              <a:rPr lang="en-US" sz="2400" err="1"/>
              <a:t>coloração</a:t>
            </a:r>
            <a:r>
              <a:rPr lang="en-US" sz="2400"/>
              <a:t> de </a:t>
            </a:r>
            <a:r>
              <a:rPr lang="en-US" sz="2400" err="1"/>
              <a:t>arestas</a:t>
            </a:r>
            <a:r>
              <a:rPr lang="en-US" sz="2400"/>
              <a:t> e </a:t>
            </a:r>
            <a:r>
              <a:rPr lang="en-US" sz="2400" err="1"/>
              <a:t>vértices</a:t>
            </a:r>
            <a:r>
              <a:rPr lang="en-US" sz="2400"/>
              <a:t> de um </a:t>
            </a:r>
            <a:r>
              <a:rPr lang="en-US" sz="2400" err="1"/>
              <a:t>grafo</a:t>
            </a:r>
            <a:r>
              <a:rPr lang="en-US" sz="2400"/>
              <a:t>.</a:t>
            </a:r>
          </a:p>
          <a:p>
            <a:pPr marL="347345" indent="-347345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6164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AD089-629C-5DF8-D040-1BDEEAB7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4174-7D44-EC66-85DE-6F7477D7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err="1"/>
              <a:t>Conjectura</a:t>
            </a:r>
            <a:r>
              <a:rPr lang="en-US"/>
              <a:t> da </a:t>
            </a:r>
            <a:r>
              <a:rPr lang="en-US" err="1"/>
              <a:t>Coloração</a:t>
            </a:r>
            <a:r>
              <a:rPr lang="en-US"/>
              <a:t> Total (TCC)</a:t>
            </a:r>
            <a:br>
              <a:rPr lang="en-US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786140-1500-D2DF-77B1-315EA19E2D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8078" y="3161469"/>
            <a:ext cx="3882864" cy="554907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3200" cap="all"/>
              <a:t>X"(𝐺) ≤ ∆(𝐺)</a:t>
            </a:r>
            <a:r>
              <a:rPr lang="en-US" sz="4000" cap="all"/>
              <a:t> + 2</a:t>
            </a:r>
            <a:endParaRPr lang="en-US"/>
          </a:p>
        </p:txBody>
      </p:sp>
      <p:pic>
        <p:nvPicPr>
          <p:cNvPr id="3" name="Picture 2" descr="A diagram of a diagram of a red green and blue line&#10;&#10;AI-generated content may be incorrect.">
            <a:extLst>
              <a:ext uri="{FF2B5EF4-FFF2-40B4-BE49-F238E27FC236}">
                <a16:creationId xmlns:a16="http://schemas.microsoft.com/office/drawing/2014/main" id="{D3CF86D5-B803-37D3-8A3F-8FE398FC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55839"/>
            <a:ext cx="6592824" cy="364253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5B285-0111-E5E7-F778-5C39AFE486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23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A66F-BA07-46BA-5601-54EAC9D3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61D2-3358-5D6F-1651-5E8ED451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err="1"/>
              <a:t>Teorema</a:t>
            </a:r>
            <a:r>
              <a:rPr lang="en-US"/>
              <a:t> de </a:t>
            </a:r>
            <a:r>
              <a:rPr lang="en-US" err="1"/>
              <a:t>Vizing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A1F6B-748E-1764-6F70-B5DA2EB9D4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7" name="Picture 6" descr="Vizing's Theorem - YouTube">
            <a:extLst>
              <a:ext uri="{FF2B5EF4-FFF2-40B4-BE49-F238E27FC236}">
                <a16:creationId xmlns:a16="http://schemas.microsoft.com/office/drawing/2014/main" id="{DC994837-C249-A77D-A492-839D66BC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46" t="30830" r="12946" b="3952"/>
          <a:stretch/>
        </p:blipFill>
        <p:spPr>
          <a:xfrm>
            <a:off x="6593457" y="2269286"/>
            <a:ext cx="5188100" cy="2567222"/>
          </a:xfrm>
          <a:prstGeom prst="rect">
            <a:avLst/>
          </a:prstGeom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069501A8-AD56-AA5B-18C0-129E826FB0AE}"/>
              </a:ext>
            </a:extLst>
          </p:cNvPr>
          <p:cNvSpPr txBox="1">
            <a:spLocks/>
          </p:cNvSpPr>
          <p:nvPr/>
        </p:nvSpPr>
        <p:spPr>
          <a:xfrm>
            <a:off x="734446" y="1828740"/>
            <a:ext cx="6150379" cy="8712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345" indent="-347345"/>
            <a:r>
              <a:rPr lang="en-US" sz="2400"/>
              <a:t>O </a:t>
            </a:r>
            <a:r>
              <a:rPr lang="en-US" sz="2400" err="1"/>
              <a:t>teorema</a:t>
            </a:r>
            <a:r>
              <a:rPr lang="en-US" sz="2400"/>
              <a:t> de </a:t>
            </a:r>
            <a:r>
              <a:rPr lang="en-US" sz="2400" err="1"/>
              <a:t>Vizing</a:t>
            </a:r>
            <a:r>
              <a:rPr lang="en-US" sz="2400"/>
              <a:t> </a:t>
            </a:r>
            <a:r>
              <a:rPr lang="en-US" sz="2400" err="1"/>
              <a:t>delimita</a:t>
            </a:r>
            <a:r>
              <a:rPr lang="en-US" sz="2400"/>
              <a:t> o </a:t>
            </a:r>
            <a:r>
              <a:rPr lang="en-US" sz="2400" err="1"/>
              <a:t>índice</a:t>
            </a:r>
            <a:r>
              <a:rPr lang="en-US" sz="2400"/>
              <a:t> </a:t>
            </a:r>
            <a:r>
              <a:rPr lang="en-US" sz="2400" err="1"/>
              <a:t>cromático</a:t>
            </a:r>
            <a:r>
              <a:rPr lang="en-US" sz="2400"/>
              <a:t> de um </a:t>
            </a:r>
            <a:r>
              <a:rPr lang="en-US" sz="2400" err="1"/>
              <a:t>grafo</a:t>
            </a:r>
            <a:r>
              <a:rPr lang="en-US" sz="2400"/>
              <a:t> G.</a:t>
            </a:r>
            <a:endParaRPr lang="en-US" sz="2400" i="1"/>
          </a:p>
          <a:p>
            <a:pPr marL="347345" indent="-347345"/>
            <a:endParaRPr lang="en-US" sz="2400"/>
          </a:p>
          <a:p>
            <a:pPr marL="347345" indent="-347345"/>
            <a:endParaRPr lang="en-US" sz="240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F015688-1B0A-0B14-13BE-D0081E3CF39E}"/>
              </a:ext>
            </a:extLst>
          </p:cNvPr>
          <p:cNvSpPr txBox="1">
            <a:spLocks/>
          </p:cNvSpPr>
          <p:nvPr/>
        </p:nvSpPr>
        <p:spPr>
          <a:xfrm>
            <a:off x="1252030" y="2849532"/>
            <a:ext cx="4468228" cy="5692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345" indent="-347345">
              <a:buNone/>
            </a:pPr>
            <a:r>
              <a:rPr lang="en-US" sz="3200" cap="all"/>
              <a:t>∆(𝐺)</a:t>
            </a:r>
            <a:r>
              <a:rPr lang="en-US" sz="3600" cap="all"/>
              <a:t> ≤ X'</a:t>
            </a:r>
            <a:r>
              <a:rPr lang="en-US" sz="3200" cap="all"/>
              <a:t>(𝐺)</a:t>
            </a:r>
            <a:r>
              <a:rPr lang="en-US" sz="4000" cap="all"/>
              <a:t> </a:t>
            </a:r>
            <a:r>
              <a:rPr lang="en-US" sz="3600" cap="all"/>
              <a:t>≤ </a:t>
            </a:r>
            <a:r>
              <a:rPr lang="en-US" sz="3200" cap="all"/>
              <a:t>∆(𝐺)</a:t>
            </a:r>
            <a:r>
              <a:rPr lang="en-US" sz="3600" cap="all"/>
              <a:t>+1</a:t>
            </a:r>
            <a:endParaRPr lang="en-US" sz="3600"/>
          </a:p>
          <a:p>
            <a:pPr marL="347345" indent="-347345"/>
            <a:endParaRPr lang="en-US" sz="2400"/>
          </a:p>
          <a:p>
            <a:pPr marL="347345" indent="-347345"/>
            <a:endParaRPr lang="en-US" sz="2400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2C37C66B-9F3B-317D-6487-75547DFACB22}"/>
              </a:ext>
            </a:extLst>
          </p:cNvPr>
          <p:cNvSpPr txBox="1">
            <a:spLocks/>
          </p:cNvSpPr>
          <p:nvPr/>
        </p:nvSpPr>
        <p:spPr>
          <a:xfrm>
            <a:off x="734446" y="3956588"/>
            <a:ext cx="6150379" cy="8712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345" indent="-347345"/>
            <a:r>
              <a:rPr lang="en-US" sz="2400" b="1"/>
              <a:t>Classe 1: </a:t>
            </a:r>
            <a:r>
              <a:rPr lang="en-US" sz="2400"/>
              <a:t>Quando X'</a:t>
            </a:r>
            <a:r>
              <a:rPr lang="en-US" sz="2400" cap="all"/>
              <a:t>(𝐺)</a:t>
            </a:r>
            <a:r>
              <a:rPr lang="en-US" sz="2400"/>
              <a:t> = Δ</a:t>
            </a:r>
            <a:r>
              <a:rPr lang="en-US" sz="2400" cap="all"/>
              <a:t>(𝐺)</a:t>
            </a:r>
            <a:endParaRPr lang="en-US" sz="2400"/>
          </a:p>
          <a:p>
            <a:pPr marL="347345" indent="-347345"/>
            <a:r>
              <a:rPr lang="en-US" sz="2400" b="1"/>
              <a:t>Classe 1: </a:t>
            </a:r>
            <a:r>
              <a:rPr lang="en-US" sz="2400"/>
              <a:t>Quando X'</a:t>
            </a:r>
            <a:r>
              <a:rPr lang="en-US" sz="2400" cap="all"/>
              <a:t>(𝐺)</a:t>
            </a:r>
            <a:r>
              <a:rPr lang="en-US" sz="2400"/>
              <a:t> = Δ</a:t>
            </a:r>
            <a:r>
              <a:rPr lang="en-US" sz="2400" cap="all"/>
              <a:t>(𝐺)</a:t>
            </a:r>
            <a:r>
              <a:rPr lang="en-US" sz="2400"/>
              <a:t> + 1</a:t>
            </a:r>
          </a:p>
          <a:p>
            <a:pPr marL="347345" indent="-347345"/>
            <a:endParaRPr lang="en-US" sz="2400"/>
          </a:p>
          <a:p>
            <a:pPr marL="347345" indent="-347345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29898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61E1E-ADF6-87A0-2C9F-2C162C329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TEOREMA DE BROOKS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1B641F-254B-D246-6CF6-EC9F66662D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5524692" cy="447992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t-BR" sz="2400"/>
              <a:t>Seja</a:t>
            </a:r>
            <a:r>
              <a:rPr lang="pt-BR" sz="240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en-US" sz="2400" cap="all">
                <a:solidFill>
                  <a:srgbClr val="404040"/>
                </a:solidFill>
                <a:ea typeface="+mn-lt"/>
                <a:cs typeface="+mn-lt"/>
              </a:rPr>
              <a:t>𝐺</a:t>
            </a:r>
            <a:r>
              <a:rPr lang="pt-BR" sz="240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pt-BR" sz="2400"/>
              <a:t>um grafo conexo com grau máximo Δ</a:t>
            </a:r>
            <a:r>
              <a:rPr lang="en-US" sz="2400" cap="all">
                <a:solidFill>
                  <a:srgbClr val="404040"/>
                </a:solidFill>
                <a:ea typeface="+mn-lt"/>
                <a:cs typeface="+mn-lt"/>
              </a:rPr>
              <a:t>(𝐺)</a:t>
            </a:r>
            <a:r>
              <a:rPr lang="pt-BR" sz="2400"/>
              <a:t>,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pt-BR" sz="5400">
                <a:solidFill>
                  <a:schemeClr val="tx1">
                    <a:lumMod val="76000"/>
                    <a:lumOff val="24000"/>
                  </a:schemeClr>
                </a:solidFill>
              </a:rPr>
              <a:t>χ</a:t>
            </a:r>
            <a:r>
              <a:rPr lang="en-US" sz="4800" cap="all">
                <a:solidFill>
                  <a:schemeClr val="tx1">
                    <a:lumMod val="76000"/>
                    <a:lumOff val="24000"/>
                  </a:schemeClr>
                </a:solidFill>
              </a:rPr>
              <a:t>(𝐺)</a:t>
            </a:r>
            <a:r>
              <a:rPr lang="pt-BR" sz="5400">
                <a:solidFill>
                  <a:schemeClr val="tx1">
                    <a:lumMod val="76000"/>
                    <a:lumOff val="24000"/>
                  </a:schemeClr>
                </a:solidFill>
              </a:rPr>
              <a:t>≤Δ</a:t>
            </a:r>
            <a:r>
              <a:rPr lang="en-US" sz="4800" cap="all">
                <a:solidFill>
                  <a:schemeClr val="tx1">
                    <a:lumMod val="76000"/>
                    <a:lumOff val="24000"/>
                  </a:schemeClr>
                </a:solidFill>
              </a:rPr>
              <a:t>(𝐺)</a:t>
            </a:r>
            <a:endParaRPr lang="pt-BR" sz="540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D92CC2-113C-B106-6281-C5B9F42A4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 descr="Brooks' theorem - Wikipedia">
            <a:extLst>
              <a:ext uri="{FF2B5EF4-FFF2-40B4-BE49-F238E27FC236}">
                <a16:creationId xmlns:a16="http://schemas.microsoft.com/office/drawing/2014/main" id="{DD1FEFC1-66A0-3114-A547-6C06B76D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966" y="1186995"/>
            <a:ext cx="4123426" cy="448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3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0A05-5B63-4ACC-6BBA-6ECA78B3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B7DE-7C70-6274-72C3-5C8808473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/>
              <a:t>Lema para </a:t>
            </a:r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Subgrafos</a:t>
            </a:r>
            <a:br>
              <a:rPr lang="en-US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B88F47-231C-96B2-DC79-511AAE21E9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8040" y="3161469"/>
            <a:ext cx="3882864" cy="554907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None/>
            </a:pPr>
            <a:r>
              <a:rPr lang="pt-BR" sz="5400" cap="all"/>
              <a:t>χ′′</a:t>
            </a:r>
            <a:r>
              <a:rPr lang="en-US" sz="4800" cap="all">
                <a:solidFill>
                  <a:schemeClr val="tx1">
                    <a:lumMod val="76000"/>
                    <a:lumOff val="24000"/>
                  </a:schemeClr>
                </a:solidFill>
              </a:rPr>
              <a:t>(h)</a:t>
            </a:r>
            <a:r>
              <a:rPr lang="pt-BR" sz="5400" cap="all"/>
              <a:t> ≤ χ''</a:t>
            </a:r>
            <a:r>
              <a:rPr lang="en-US" sz="4800" cap="all">
                <a:solidFill>
                  <a:schemeClr val="tx1">
                    <a:lumMod val="76000"/>
                    <a:lumOff val="24000"/>
                  </a:schemeClr>
                </a:solidFill>
              </a:rPr>
              <a:t>(𝐺)</a:t>
            </a:r>
          </a:p>
          <a:p>
            <a:pPr marL="0" indent="0">
              <a:buNone/>
            </a:pPr>
            <a:endParaRPr lang="en-US" sz="8800" cap="al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762E0-9C35-EA1A-6E14-002778C9DE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CF43E7A-0C93-DDA4-0D0F-66AD3EB3D233}"/>
              </a:ext>
            </a:extLst>
          </p:cNvPr>
          <p:cNvSpPr txBox="1">
            <a:spLocks/>
          </p:cNvSpPr>
          <p:nvPr/>
        </p:nvSpPr>
        <p:spPr>
          <a:xfrm>
            <a:off x="734446" y="1828740"/>
            <a:ext cx="6150379" cy="8712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345" indent="-347345"/>
            <a:r>
              <a:rPr lang="en-US" sz="2400"/>
              <a:t>Para </a:t>
            </a:r>
            <a:r>
              <a:rPr lang="en-US" sz="2400" err="1"/>
              <a:t>todo</a:t>
            </a:r>
            <a:r>
              <a:rPr lang="en-US" sz="2400"/>
              <a:t> </a:t>
            </a:r>
            <a:r>
              <a:rPr lang="en-US" sz="2400" err="1"/>
              <a:t>subgrafo</a:t>
            </a:r>
            <a:r>
              <a:rPr lang="en-US" sz="2400"/>
              <a:t> H de um </a:t>
            </a:r>
            <a:r>
              <a:rPr lang="en-US" sz="2400" err="1"/>
              <a:t>grafo</a:t>
            </a:r>
            <a:r>
              <a:rPr lang="en-US" sz="2400"/>
              <a:t> </a:t>
            </a:r>
            <a:r>
              <a:rPr lang="en-US" sz="2400" cap="all"/>
              <a:t>𝐺.</a:t>
            </a:r>
            <a:endParaRPr lang="en-US" sz="2400"/>
          </a:p>
          <a:p>
            <a:pPr marL="347345" indent="-347345"/>
            <a:endParaRPr lang="en-US" sz="2400"/>
          </a:p>
          <a:p>
            <a:pPr marL="347345" indent="-347345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92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6E4C7-AF74-7DBA-80F9-D8C4366E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180A4-EC3D-729E-0BC2-214F3730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sz="1300" err="1"/>
              <a:t>Seção</a:t>
            </a:r>
            <a:r>
              <a:rPr lang="en-US" sz="1300"/>
              <a:t> 2</a:t>
            </a:r>
            <a:br>
              <a:rPr lang="en-US" sz="1300"/>
            </a:br>
            <a:br>
              <a:rPr lang="en-US" sz="1300"/>
            </a:br>
            <a:endParaRPr lang="en-US" sz="13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B5588-CEE8-637B-EFB5-D83CC248F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2351" y="2715649"/>
            <a:ext cx="5579873" cy="1946807"/>
          </a:xfrm>
        </p:spPr>
        <p:txBody>
          <a:bodyPr vert="horz" lIns="0" tIns="0" rIns="0" bIns="0" rtlCol="0" anchor="t">
            <a:normAutofit fontScale="4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sz="11800" err="1"/>
              <a:t>Principais</a:t>
            </a:r>
            <a:r>
              <a:rPr lang="en-US" sz="11800"/>
              <a:t> </a:t>
            </a:r>
            <a:r>
              <a:rPr lang="en-US" sz="11800" err="1"/>
              <a:t>Resultados</a:t>
            </a:r>
          </a:p>
          <a:p>
            <a:pPr algn="ctr">
              <a:lnSpc>
                <a:spcPct val="120000"/>
              </a:lnSpc>
            </a:pP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6ADE07-2433-D53D-24BE-34402CC1C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4946" y="1266452"/>
            <a:ext cx="4890407" cy="48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24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EEB13-238A-378B-5B59-172A68D5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680D2C63-56CB-ECC5-D4EF-E9FDB756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80" y="2183575"/>
            <a:ext cx="6185312" cy="3867765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Regulares</a:t>
            </a:r>
            <a:br>
              <a:rPr lang="en-US"/>
            </a:b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B5256086-BAC1-16D6-9E6D-F9C3A7AEB0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181E4B2-C9F3-5580-DA33-7E89668E3F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BFA019D-D53C-5C23-0663-1A1B751261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5B88DA7-A401-4DE9-E680-C3D38EA989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Grafos e algoritmos | Programadores Ajudando Programadores">
            <a:extLst>
              <a:ext uri="{FF2B5EF4-FFF2-40B4-BE49-F238E27FC236}">
                <a16:creationId xmlns:a16="http://schemas.microsoft.com/office/drawing/2014/main" id="{E19304B5-A172-08A0-C032-0E72BF1E8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363" y="1401512"/>
            <a:ext cx="4376056" cy="432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89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389D-DFC5-4D10-15D1-4B715063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DE5D-4960-3FEC-8EA6-C8E84584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Regulares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0733E-BAB8-42EF-892D-0624E1058B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683" y="1393053"/>
            <a:ext cx="9604765" cy="44805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t-BR" sz="2400"/>
              <a:t>Para grafos regulares a coloração total pode ser bem abrangente e mudar de acordo com alguma característica presente no grafo, uma vez que diversas outras classes de grafos são também regulares.</a:t>
            </a:r>
          </a:p>
          <a:p>
            <a:r>
              <a:rPr lang="pt-BR" sz="2400"/>
              <a:t>Porém, podemos estabelecer pela TCC que para qualquer grafo k-regular, o número cromático satisfaz: </a:t>
            </a:r>
            <a:endParaRPr lang="en-US" sz="2400"/>
          </a:p>
          <a:p>
            <a:pPr algn="ctr"/>
            <a:r>
              <a:rPr lang="pt-BR" sz="2400"/>
              <a:t> Χ" (</a:t>
            </a:r>
            <a:r>
              <a:rPr lang="en-US" sz="2200"/>
              <a:t>𝐺</a:t>
            </a:r>
            <a:r>
              <a:rPr lang="pt-BR" sz="2400"/>
              <a:t>) ≤ Δ(</a:t>
            </a:r>
            <a:r>
              <a:rPr lang="en-US" sz="2200"/>
              <a:t>𝐺</a:t>
            </a:r>
            <a:r>
              <a:rPr lang="pt-BR" sz="2400"/>
              <a:t>)+2 </a:t>
            </a:r>
            <a:endParaRPr lang="en-US" sz="2400"/>
          </a:p>
          <a:p>
            <a:endParaRPr lang="pt-BR" sz="2400"/>
          </a:p>
          <a:p>
            <a:endParaRPr lang="pt-BR" sz="2400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F222-839E-6F72-1D9C-E7AE84F9F5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2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E1FE-2958-F5E5-019D-13E91E3E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AE88B308-3CB1-1AB1-7B1B-DA8D0DCC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80" y="2183575"/>
            <a:ext cx="6185312" cy="3867765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Completos</a:t>
            </a:r>
            <a:br>
              <a:rPr lang="en-US"/>
            </a:b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E7F6ED5C-FF5B-E2F8-BF63-E3B645A798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4B8DE03-D682-94BE-768D-D395980FEE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39546794-2B2D-E8B1-F068-75AAAFF02D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E85AFAD-048C-C38F-52EF-2611179AA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Complete graph - Wikipedia">
            <a:extLst>
              <a:ext uri="{FF2B5EF4-FFF2-40B4-BE49-F238E27FC236}">
                <a16:creationId xmlns:a16="http://schemas.microsoft.com/office/drawing/2014/main" id="{EECC51F0-3956-7917-0898-2C7E42FCF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9401" y="1144224"/>
            <a:ext cx="4607377" cy="456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18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BC759-9F65-A3BA-2307-BE877403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9A9C-A0DC-1E7B-2202-C8579A69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Completos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1389F-94D5-00C7-C326-54E953F389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89D06AC-D70F-D442-0C6E-4D5ECF8D7A0B}"/>
              </a:ext>
            </a:extLst>
          </p:cNvPr>
          <p:cNvSpPr txBox="1">
            <a:spLocks/>
          </p:cNvSpPr>
          <p:nvPr/>
        </p:nvSpPr>
        <p:spPr>
          <a:xfrm>
            <a:off x="837683" y="1594336"/>
            <a:ext cx="9604765" cy="366105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No caso de grafos completos </a:t>
            </a:r>
            <a:r>
              <a:rPr lang="pt-BR" sz="2400" err="1"/>
              <a:t>Kn</a:t>
            </a:r>
            <a:r>
              <a:rPr lang="pt-BR"/>
              <a:t> </a:t>
            </a:r>
            <a:r>
              <a:rPr lang="pt-BR" sz="2400"/>
              <a:t>, o número cromático total depende da paridade de n. O seguinte teorema  estabelece que:</a:t>
            </a:r>
            <a:r>
              <a:rPr lang="pt-BR" cap="all"/>
              <a:t> </a:t>
            </a:r>
            <a:endParaRPr lang="en-US" cap="all"/>
          </a:p>
          <a:p>
            <a:pPr algn="ctr"/>
            <a:r>
              <a:rPr lang="pt-BR" sz="2400" i="1"/>
              <a:t>(χ"(</a:t>
            </a:r>
            <a:r>
              <a:rPr lang="pt-BR" sz="2400" i="1" err="1"/>
              <a:t>Kn</a:t>
            </a:r>
            <a:r>
              <a:rPr lang="pt-BR" sz="2400" i="1"/>
              <a:t>))={n se n é ímpar, n+1 se n é par}.</a:t>
            </a:r>
            <a:r>
              <a:rPr lang="pt-BR" sz="240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pt-BR" sz="2400">
                <a:ea typeface="+mn-lt"/>
                <a:cs typeface="+mn-lt"/>
              </a:rPr>
              <a:t> </a:t>
            </a:r>
            <a:endParaRPr lang="pt-BR"/>
          </a:p>
          <a:p>
            <a:r>
              <a:rPr lang="pt-BR" sz="2400"/>
              <a:t>Ou seja:</a:t>
            </a:r>
            <a:r>
              <a:rPr lang="pt-BR" sz="2400">
                <a:ea typeface="+mn-lt"/>
                <a:cs typeface="+mn-lt"/>
              </a:rPr>
              <a:t> </a:t>
            </a:r>
            <a:endParaRPr lang="pt-BR"/>
          </a:p>
          <a:p>
            <a:r>
              <a:rPr lang="pt-BR" sz="2400"/>
              <a:t>Se n é ímpar, o número cromático total de </a:t>
            </a:r>
            <a:r>
              <a:rPr lang="pt-BR" sz="2400" err="1"/>
              <a:t>Kn</a:t>
            </a:r>
            <a:r>
              <a:rPr lang="pt-BR" sz="240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pt-BR" sz="2400"/>
              <a:t>é n.</a:t>
            </a:r>
            <a:r>
              <a:rPr lang="pt-BR" sz="2400">
                <a:ea typeface="+mn-lt"/>
                <a:cs typeface="+mn-lt"/>
              </a:rPr>
              <a:t> </a:t>
            </a:r>
            <a:endParaRPr lang="pt-BR"/>
          </a:p>
          <a:p>
            <a:r>
              <a:rPr lang="pt-BR" sz="2400"/>
              <a:t>Se n é par, o número cromático total de </a:t>
            </a:r>
            <a:r>
              <a:rPr lang="pt-BR" sz="2400" err="1"/>
              <a:t>Kn</a:t>
            </a:r>
            <a:r>
              <a:rPr lang="pt-BR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pt-BR" sz="2400"/>
              <a:t>é n + 1.</a:t>
            </a:r>
            <a:r>
              <a:rPr lang="pt-BR" sz="2400">
                <a:ea typeface="+mn-lt"/>
                <a:cs typeface="+mn-lt"/>
              </a:rPr>
              <a:t> 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8299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AF6C-D598-458E-3B20-A09050B7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5055A-CFDF-B30E-B610-3F09534597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F7AEB40-80F6-F337-DC25-599233FD3152}"/>
              </a:ext>
            </a:extLst>
          </p:cNvPr>
          <p:cNvSpPr txBox="1">
            <a:spLocks/>
          </p:cNvSpPr>
          <p:nvPr/>
        </p:nvSpPr>
        <p:spPr>
          <a:xfrm>
            <a:off x="837683" y="1551204"/>
            <a:ext cx="9604765" cy="409237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Para provar que quando n é ímpar </a:t>
            </a:r>
            <a:r>
              <a:rPr lang="pt-BR" i="1" err="1">
                <a:latin typeface="system-ui"/>
              </a:rPr>
              <a:t>χT</a:t>
            </a:r>
            <a:r>
              <a:rPr lang="pt-BR" i="1">
                <a:latin typeface="system-ui"/>
              </a:rPr>
              <a:t>(</a:t>
            </a:r>
            <a:r>
              <a:rPr lang="pt-BR" i="1" err="1">
                <a:latin typeface="system-ui"/>
              </a:rPr>
              <a:t>Kn</a:t>
            </a:r>
            <a:r>
              <a:rPr lang="pt-BR" i="1">
                <a:latin typeface="system-ui"/>
              </a:rPr>
              <a:t>) = n,</a:t>
            </a:r>
            <a:r>
              <a:rPr lang="pt-BR" sz="2400" i="1">
                <a:latin typeface="system-ui"/>
              </a:rPr>
              <a:t> </a:t>
            </a:r>
            <a:r>
              <a:rPr lang="en-US"/>
              <a:t> </a:t>
            </a:r>
            <a:r>
              <a:rPr lang="pt-BR" sz="1800">
                <a:latin typeface="system-ui"/>
              </a:rPr>
              <a:t>p = 1, 2, ..., n. </a:t>
            </a:r>
            <a:endParaRPr lang="pt-BR" cap="all"/>
          </a:p>
          <a:p>
            <a:pPr algn="ctr"/>
            <a:r>
              <a:rPr lang="pt-BR" sz="2400" i="1"/>
              <a:t>Dividimos </a:t>
            </a:r>
            <a:r>
              <a:rPr lang="pt-BR" sz="2400" i="1" err="1">
                <a:latin typeface="system-ui"/>
              </a:rPr>
              <a:t>Tp</a:t>
            </a:r>
            <a:r>
              <a:rPr lang="pt-BR" sz="2400" i="1">
                <a:latin typeface="system-ui"/>
              </a:rPr>
              <a:t>={v(</a:t>
            </a:r>
            <a:r>
              <a:rPr lang="pt-BR" sz="2400" i="1" err="1">
                <a:latin typeface="system-ui"/>
              </a:rPr>
              <a:t>p+q</a:t>
            </a:r>
            <a:r>
              <a:rPr lang="pt-BR" sz="2400" i="1">
                <a:latin typeface="system-ui"/>
              </a:rPr>
              <a:t>)v(p−q) | q=1,2,…,(n−1)/2} ∪ {</a:t>
            </a:r>
            <a:r>
              <a:rPr lang="pt-BR" sz="2400" i="1" err="1">
                <a:latin typeface="system-ui"/>
              </a:rPr>
              <a:t>vp</a:t>
            </a:r>
            <a:r>
              <a:rPr lang="pt-BR" sz="2400" i="1">
                <a:latin typeface="system-ui"/>
              </a:rPr>
              <a:t>} </a:t>
            </a:r>
            <a:r>
              <a:rPr lang="en-US" sz="1800" cap="all">
                <a:latin typeface="system-ui"/>
              </a:rPr>
              <a:t> </a:t>
            </a:r>
            <a:endParaRPr lang="pt-BR" sz="2400"/>
          </a:p>
          <a:p>
            <a:r>
              <a:rPr lang="pt-BR" sz="2400"/>
              <a:t>Ex.: n = 3</a:t>
            </a:r>
            <a:endParaRPr lang="pt-BR"/>
          </a:p>
          <a:p>
            <a:r>
              <a:rPr lang="pt-BR" b="1"/>
              <a:t>T1 = {v2v3} U {v1} atribuímos verde</a:t>
            </a:r>
          </a:p>
          <a:p>
            <a:r>
              <a:rPr lang="pt-BR" b="1"/>
              <a:t>T2 = {v3v1} U {v2}</a:t>
            </a:r>
            <a:r>
              <a:rPr lang="pt-BR" b="1">
                <a:ea typeface="+mn-lt"/>
                <a:cs typeface="+mn-lt"/>
              </a:rPr>
              <a:t> </a:t>
            </a:r>
            <a:r>
              <a:rPr lang="pt-BR" b="1"/>
              <a:t>atribuímos vermelho</a:t>
            </a:r>
            <a:endParaRPr lang="pt-BR"/>
          </a:p>
          <a:p>
            <a:r>
              <a:rPr lang="pt-BR" b="1"/>
              <a:t>T3 = {v1v2} U {v3} atribuímos azul</a:t>
            </a:r>
            <a:r>
              <a:rPr lang="pt-BR" sz="2800" b="1" i="1">
                <a:latin typeface="system-ui"/>
              </a:rPr>
              <a:t> </a:t>
            </a:r>
            <a:endParaRPr lang="pt-BR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4ECD040-7199-DA5C-EB4E-B58BD98EF4E2}"/>
              </a:ext>
            </a:extLst>
          </p:cNvPr>
          <p:cNvSpPr txBox="1">
            <a:spLocks/>
          </p:cNvSpPr>
          <p:nvPr/>
        </p:nvSpPr>
        <p:spPr>
          <a:xfrm>
            <a:off x="849874" y="993648"/>
            <a:ext cx="10479024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Completos</a:t>
            </a:r>
            <a:br>
              <a:rPr lang="en-US"/>
            </a:br>
            <a:endParaRPr lang="en-US"/>
          </a:p>
        </p:txBody>
      </p:sp>
      <p:pic>
        <p:nvPicPr>
          <p:cNvPr id="17" name="Picture 16" descr="A diagram of a triangle with colored circles and numbers&#10;&#10;AI-generated content may be incorrect.">
            <a:extLst>
              <a:ext uri="{FF2B5EF4-FFF2-40B4-BE49-F238E27FC236}">
                <a16:creationId xmlns:a16="http://schemas.microsoft.com/office/drawing/2014/main" id="{D1A3A786-AA49-6122-5EF3-1BB94895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110" y="3266985"/>
            <a:ext cx="3514724" cy="32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18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38CAA-8D92-DAD9-D9AF-2CA24E4C5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5CC29-2F6A-CC97-216F-394CA06C8B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104D6FC0-007F-2633-CB76-C988A11C51D4}"/>
              </a:ext>
            </a:extLst>
          </p:cNvPr>
          <p:cNvSpPr txBox="1">
            <a:spLocks/>
          </p:cNvSpPr>
          <p:nvPr/>
        </p:nvSpPr>
        <p:spPr>
          <a:xfrm>
            <a:off x="852060" y="1551204"/>
            <a:ext cx="10064840" cy="4092371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Para provar que quando n é p </a:t>
            </a:r>
            <a:r>
              <a:rPr lang="pt-BR" i="1" err="1">
                <a:latin typeface="system-ui"/>
              </a:rPr>
              <a:t>χT</a:t>
            </a:r>
            <a:r>
              <a:rPr lang="pt-BR" i="1">
                <a:latin typeface="system-ui"/>
              </a:rPr>
              <a:t>(</a:t>
            </a:r>
            <a:r>
              <a:rPr lang="pt-BR" i="1" err="1">
                <a:latin typeface="system-ui"/>
              </a:rPr>
              <a:t>Kn</a:t>
            </a:r>
            <a:r>
              <a:rPr lang="pt-BR" i="1">
                <a:latin typeface="system-ui"/>
              </a:rPr>
              <a:t>) = n + 1, </a:t>
            </a:r>
            <a:r>
              <a:rPr lang="pt-BR" sz="2400"/>
              <a:t>Utilizaremos o princípio geral da coloração de vértices adaptado para a coloração total:</a:t>
            </a:r>
          </a:p>
          <a:p>
            <a:pPr algn="ctr"/>
            <a:endParaRPr lang="en-US" sz="1800" cap="all">
              <a:latin typeface="system-ui"/>
            </a:endParaRPr>
          </a:p>
          <a:p>
            <a:endParaRPr lang="pt-BR" sz="2400"/>
          </a:p>
          <a:p>
            <a:r>
              <a:rPr lang="pt-BR" b="1">
                <a:latin typeface="Aptos Light"/>
              </a:rPr>
              <a:t>Sendo </a:t>
            </a:r>
            <a:r>
              <a:rPr lang="pt-BR" sz="1800" i="1">
                <a:latin typeface="system-ui"/>
              </a:rPr>
              <a:t>T(</a:t>
            </a:r>
            <a:r>
              <a:rPr lang="pt-BR" sz="1800" i="1" err="1">
                <a:latin typeface="system-ui"/>
              </a:rPr>
              <a:t>Kn</a:t>
            </a:r>
            <a:r>
              <a:rPr lang="pt-BR" sz="1800" i="1">
                <a:latin typeface="system-ui"/>
              </a:rPr>
              <a:t>)≤n/2 e |VE(</a:t>
            </a:r>
            <a:r>
              <a:rPr lang="pt-BR" sz="1800" i="1" err="1">
                <a:latin typeface="system-ui"/>
              </a:rPr>
              <a:t>Kn</a:t>
            </a:r>
            <a:r>
              <a:rPr lang="pt-BR" sz="1800" i="1">
                <a:latin typeface="system-ui"/>
              </a:rPr>
              <a:t>)| = </a:t>
            </a:r>
            <a:r>
              <a:rPr lang="pt-BR" sz="1800" i="1" err="1">
                <a:latin typeface="system-ui"/>
              </a:rPr>
              <a:t>n+n</a:t>
            </a:r>
            <a:r>
              <a:rPr lang="pt-BR" sz="1800" i="1">
                <a:latin typeface="system-ui"/>
              </a:rPr>
              <a:t>(n−1)/2 = n(n+1)/2, </a:t>
            </a:r>
            <a:r>
              <a:rPr lang="pt-BR" sz="1800">
                <a:latin typeface="system-ui"/>
              </a:rPr>
              <a:t>teremos:</a:t>
            </a:r>
            <a:r>
              <a:rPr lang="pt-BR" sz="1800" b="1" cap="all">
                <a:latin typeface="system-ui"/>
              </a:rPr>
              <a:t> </a:t>
            </a:r>
            <a:endParaRPr lang="pt-BR" b="1">
              <a:latin typeface="Aptos Light"/>
            </a:endParaRPr>
          </a:p>
          <a:p>
            <a:pPr algn="ctr"/>
            <a:r>
              <a:rPr lang="pt-BR" sz="1800" i="1">
                <a:latin typeface="system-ui"/>
              </a:rPr>
              <a:t>Χ"(</a:t>
            </a:r>
            <a:r>
              <a:rPr lang="pt-BR" sz="1800" i="1" err="1">
                <a:latin typeface="system-ui"/>
              </a:rPr>
              <a:t>Kn</a:t>
            </a:r>
            <a:r>
              <a:rPr lang="pt-BR" sz="1800" i="1">
                <a:latin typeface="system-ui"/>
              </a:rPr>
              <a:t>) = (</a:t>
            </a:r>
            <a:r>
              <a:rPr lang="pt-BR" sz="1800" i="1" err="1">
                <a:latin typeface="system-ui"/>
              </a:rPr>
              <a:t>n+n</a:t>
            </a:r>
            <a:r>
              <a:rPr lang="pt-BR" sz="1800" i="1">
                <a:latin typeface="system-ui"/>
              </a:rPr>
              <a:t>(n−1)/2) / (n/2) = n + 1, logo concluímos que χ"(</a:t>
            </a:r>
            <a:r>
              <a:rPr lang="pt-BR" sz="1800" i="1" err="1">
                <a:latin typeface="system-ui"/>
              </a:rPr>
              <a:t>Kn</a:t>
            </a:r>
            <a:r>
              <a:rPr lang="pt-BR" sz="1800" i="1">
                <a:latin typeface="system-ui"/>
              </a:rPr>
              <a:t>) ≥ n +1.</a:t>
            </a:r>
            <a:r>
              <a:rPr lang="pt-BR">
                <a:ea typeface="+mn-lt"/>
                <a:cs typeface="+mn-lt"/>
              </a:rPr>
              <a:t> </a:t>
            </a:r>
            <a:endParaRPr lang="pt-BR"/>
          </a:p>
          <a:p>
            <a:r>
              <a:rPr lang="pt-BR" sz="2400"/>
              <a:t>E devido ao lema  podemos concluir que</a:t>
            </a:r>
            <a:r>
              <a:rPr lang="pt-BR" sz="1800" i="1">
                <a:latin typeface="system-ui"/>
              </a:rPr>
              <a:t> χ"(</a:t>
            </a:r>
            <a:r>
              <a:rPr lang="pt-BR" sz="1800" i="1" err="1">
                <a:latin typeface="system-ui"/>
              </a:rPr>
              <a:t>Kn</a:t>
            </a:r>
            <a:r>
              <a:rPr lang="pt-BR" sz="1800" i="1">
                <a:latin typeface="system-ui"/>
              </a:rPr>
              <a:t>) ≤ </a:t>
            </a:r>
            <a:r>
              <a:rPr lang="pt-BR" sz="1800" i="1" err="1">
                <a:latin typeface="system-ui"/>
              </a:rPr>
              <a:t>χT</a:t>
            </a:r>
            <a:r>
              <a:rPr lang="pt-BR" sz="1800" i="1">
                <a:latin typeface="system-ui"/>
              </a:rPr>
              <a:t>(Kn+1) = n + 1</a:t>
            </a:r>
            <a:r>
              <a:rPr lang="pt-BR" sz="2400"/>
              <a:t>. </a:t>
            </a:r>
          </a:p>
          <a:p>
            <a:endParaRPr lang="pt-BR" sz="2400"/>
          </a:p>
          <a:p>
            <a:endParaRPr lang="pt-BR" b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1B511C5-A1C0-455D-BF88-0769A9B7BCE4}"/>
              </a:ext>
            </a:extLst>
          </p:cNvPr>
          <p:cNvSpPr txBox="1">
            <a:spLocks/>
          </p:cNvSpPr>
          <p:nvPr/>
        </p:nvSpPr>
        <p:spPr>
          <a:xfrm>
            <a:off x="849874" y="993648"/>
            <a:ext cx="10479024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Completos</a:t>
            </a:r>
            <a:br>
              <a:rPr lang="en-US"/>
            </a:b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B68457-2B9D-6C8D-3DFE-383AFBDD0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301" y="2405153"/>
            <a:ext cx="2954906" cy="883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3561BF-1FCD-AFCF-20A9-41114C84F9E2}"/>
              </a:ext>
            </a:extLst>
          </p:cNvPr>
          <p:cNvSpPr txBox="1"/>
          <p:nvPr/>
        </p:nvSpPr>
        <p:spPr>
          <a:xfrm>
            <a:off x="6399031" y="5653343"/>
            <a:ext cx="46834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rgbClr val="404040"/>
                </a:solidFill>
              </a:rPr>
              <a:t>Temos </a:t>
            </a:r>
            <a:r>
              <a:rPr lang="pt-BR" i="1">
                <a:solidFill>
                  <a:srgbClr val="404040"/>
                </a:solidFill>
                <a:latin typeface="system-ui"/>
              </a:rPr>
              <a:t>n+1≤ </a:t>
            </a:r>
            <a:r>
              <a:rPr lang="pt-BR" i="1" err="1">
                <a:solidFill>
                  <a:srgbClr val="404040"/>
                </a:solidFill>
                <a:latin typeface="system-ui"/>
              </a:rPr>
              <a:t>χT</a:t>
            </a:r>
            <a:r>
              <a:rPr lang="pt-BR" i="1">
                <a:solidFill>
                  <a:srgbClr val="404040"/>
                </a:solidFill>
                <a:latin typeface="system-ui"/>
              </a:rPr>
              <a:t>(</a:t>
            </a:r>
            <a:r>
              <a:rPr lang="pt-BR" i="1" err="1">
                <a:solidFill>
                  <a:srgbClr val="404040"/>
                </a:solidFill>
                <a:latin typeface="system-ui"/>
              </a:rPr>
              <a:t>Kn</a:t>
            </a:r>
            <a:r>
              <a:rPr lang="pt-BR" i="1">
                <a:solidFill>
                  <a:srgbClr val="404040"/>
                </a:solidFill>
                <a:latin typeface="system-ui"/>
              </a:rPr>
              <a:t>) ≤ n+1</a:t>
            </a:r>
            <a:endParaRPr lang="pt-BR" sz="2400">
              <a:solidFill>
                <a:srgbClr val="404040"/>
              </a:solidFill>
            </a:endParaRPr>
          </a:p>
          <a:p>
            <a:r>
              <a:rPr lang="pt-BR" sz="2400">
                <a:solidFill>
                  <a:srgbClr val="404040"/>
                </a:solidFill>
              </a:rPr>
              <a:t>Concluindo </a:t>
            </a:r>
            <a:r>
              <a:rPr lang="pt-BR" i="1" err="1">
                <a:solidFill>
                  <a:srgbClr val="404040"/>
                </a:solidFill>
                <a:latin typeface="system-ui"/>
              </a:rPr>
              <a:t>χT</a:t>
            </a:r>
            <a:r>
              <a:rPr lang="pt-BR" i="1">
                <a:solidFill>
                  <a:srgbClr val="404040"/>
                </a:solidFill>
                <a:latin typeface="system-ui"/>
              </a:rPr>
              <a:t>(</a:t>
            </a:r>
            <a:r>
              <a:rPr lang="pt-BR" i="1" err="1">
                <a:solidFill>
                  <a:srgbClr val="404040"/>
                </a:solidFill>
                <a:latin typeface="system-ui"/>
              </a:rPr>
              <a:t>Kn</a:t>
            </a:r>
            <a:r>
              <a:rPr lang="pt-BR" i="1">
                <a:solidFill>
                  <a:srgbClr val="404040"/>
                </a:solidFill>
                <a:latin typeface="system-ui"/>
              </a:rPr>
              <a:t>) = n + 1, </a:t>
            </a:r>
            <a:r>
              <a:rPr lang="pt-BR" sz="2400">
                <a:solidFill>
                  <a:srgbClr val="404040"/>
                </a:solidFill>
              </a:rPr>
              <a:t>para n par</a:t>
            </a:r>
          </a:p>
        </p:txBody>
      </p:sp>
    </p:spTree>
    <p:extLst>
      <p:ext uri="{BB962C8B-B14F-4D97-AF65-F5344CB8AC3E}">
        <p14:creationId xmlns:p14="http://schemas.microsoft.com/office/powerpoint/2010/main" val="2067136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FD73-AF7E-9A9E-EBF9-4295E6E6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6D7616B3-BEE2-50A7-17F5-FC17E75F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34" y="2643650"/>
            <a:ext cx="6976066" cy="1725539"/>
          </a:xfrm>
        </p:spPr>
        <p:txBody>
          <a:bodyPr/>
          <a:lstStyle/>
          <a:p>
            <a:r>
              <a:rPr lang="en-US" sz="6000" err="1"/>
              <a:t>Grafos</a:t>
            </a:r>
            <a:r>
              <a:rPr lang="en-US" sz="6000"/>
              <a:t> de </a:t>
            </a:r>
            <a:r>
              <a:rPr lang="pt-BR" sz="4400"/>
              <a:t>Δ(𝐺) </a:t>
            </a:r>
            <a:r>
              <a:rPr lang="en-US" sz="6000"/>
              <a:t>Pequeno </a:t>
            </a:r>
            <a:r>
              <a:rPr lang="en-US" sz="6000" err="1"/>
              <a:t>ou</a:t>
            </a:r>
            <a:r>
              <a:rPr lang="en-US" sz="6000"/>
              <a:t> Grande</a:t>
            </a:r>
            <a:br>
              <a:rPr lang="en-US" sz="6000"/>
            </a:br>
            <a:endParaRPr lang="en-US" sz="880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F9348ED4-504F-35E7-62B3-C097FF196A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FDC7D1E8-08C6-3DD5-9546-A40CB7562C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27DD21A-D494-303B-18E3-C01BD633AA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91906DD-6F66-38CE-2646-31B3201619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" name="Picture 22" descr="Petersen graph - Wikipedia">
            <a:extLst>
              <a:ext uri="{FF2B5EF4-FFF2-40B4-BE49-F238E27FC236}">
                <a16:creationId xmlns:a16="http://schemas.microsoft.com/office/drawing/2014/main" id="{2D2A85E3-9BE5-2E1C-1B2B-9C470F79F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51608" y="1151627"/>
            <a:ext cx="4698520" cy="46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65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389D-DFC5-4D10-15D1-4B715063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DE5D-4960-3FEC-8EA6-C8E84584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com base no Δ(G)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0733E-BAB8-42EF-892D-0624E1058B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683" y="1393053"/>
            <a:ext cx="9604765" cy="44805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t-BR" sz="2400"/>
              <a:t>Considerando a análise individual do grau máximo exibido por um grafo, percebe-se que a Conjectura de Coloração Total sustenta-se para grafos </a:t>
            </a:r>
            <a:r>
              <a:rPr lang="pt-BR"/>
              <a:t>𝐺</a:t>
            </a:r>
            <a:r>
              <a:rPr lang="pt-BR" sz="2400"/>
              <a:t> com </a:t>
            </a:r>
            <a:r>
              <a:rPr lang="pt-BR"/>
              <a:t>Δ(𝐺) </a:t>
            </a:r>
            <a:r>
              <a:rPr lang="pt-BR" sz="2400"/>
              <a:t>suficientemente pequenos ou grandes, isto é:</a:t>
            </a:r>
          </a:p>
          <a:p>
            <a:endParaRPr lang="pt-BR" sz="2400"/>
          </a:p>
          <a:p>
            <a:endParaRPr lang="pt-BR" sz="2400"/>
          </a:p>
          <a:p>
            <a:pPr>
              <a:lnSpc>
                <a:spcPct val="100000"/>
              </a:lnSpc>
            </a:pPr>
            <a:r>
              <a:rPr lang="pt-BR" sz="2400"/>
              <a:t>Já grafos que apresentam </a:t>
            </a:r>
            <a:r>
              <a:rPr lang="pt-BR"/>
              <a:t>Δ(𝐺)</a:t>
            </a:r>
            <a:r>
              <a:rPr lang="pt-BR" sz="2400"/>
              <a:t> intermediário se comportam como problemas NP-completos, dificultando sua resolução.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F222-839E-6F72-1D9C-E7AE84F9F5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8202D8F-2832-9382-39F3-F7D43E16E7F9}"/>
              </a:ext>
            </a:extLst>
          </p:cNvPr>
          <p:cNvSpPr txBox="1">
            <a:spLocks/>
          </p:cNvSpPr>
          <p:nvPr/>
        </p:nvSpPr>
        <p:spPr>
          <a:xfrm>
            <a:off x="4455027" y="2609377"/>
            <a:ext cx="3235596" cy="134629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7345">
              <a:lnSpc>
                <a:spcPct val="100000"/>
              </a:lnSpc>
              <a:buFont typeface="Arial"/>
              <a:buChar char="•"/>
            </a:pPr>
            <a:r>
              <a:rPr lang="pt-BR" sz="2400"/>
              <a:t>Δ(𝐺) </a:t>
            </a:r>
            <a:r>
              <a:rPr lang="pt-BR" sz="2800"/>
              <a:t>≤ 4</a:t>
            </a:r>
            <a:endParaRPr lang="en-US" sz="2800"/>
          </a:p>
          <a:p>
            <a:pPr marL="342900" indent="-347345">
              <a:lnSpc>
                <a:spcPct val="100000"/>
              </a:lnSpc>
              <a:buFont typeface="Arial"/>
              <a:buChar char="•"/>
            </a:pPr>
            <a:r>
              <a:rPr lang="pt-BR" sz="2400"/>
              <a:t>Δ(𝐺) </a:t>
            </a:r>
            <a:r>
              <a:rPr lang="pt-BR" sz="2800"/>
              <a:t>≥ |</a:t>
            </a:r>
            <a:r>
              <a:rPr lang="pt-BR" sz="2400"/>
              <a:t>𝐺</a:t>
            </a:r>
            <a:r>
              <a:rPr lang="pt-BR" sz="2800"/>
              <a:t>| - 5</a:t>
            </a:r>
          </a:p>
        </p:txBody>
      </p:sp>
    </p:spTree>
    <p:extLst>
      <p:ext uri="{BB962C8B-B14F-4D97-AF65-F5344CB8AC3E}">
        <p14:creationId xmlns:p14="http://schemas.microsoft.com/office/powerpoint/2010/main" val="2861762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ACF3-596C-92A5-7AD1-A2B11C03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com Δ(G) </a:t>
            </a:r>
            <a:r>
              <a:rPr lang="en-US" err="1"/>
              <a:t>suficientemente</a:t>
            </a:r>
            <a:r>
              <a:rPr lang="en-US"/>
              <a:t> </a:t>
            </a:r>
            <a:r>
              <a:rPr lang="en-US" err="1"/>
              <a:t>pequeno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ADD977-4332-7D76-F599-EBBFE0504D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2701" y="1680601"/>
            <a:ext cx="5205294" cy="3646673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algn="just"/>
            <a:r>
              <a:rPr lang="en-US" sz="2400"/>
              <a:t>Para um </a:t>
            </a:r>
            <a:r>
              <a:rPr lang="en-US" sz="2400" err="1"/>
              <a:t>grafo</a:t>
            </a:r>
            <a:r>
              <a:rPr lang="en-US" sz="2400"/>
              <a:t> G com Δ(G) = 1, é </a:t>
            </a:r>
            <a:r>
              <a:rPr lang="en-US" sz="2400" err="1"/>
              <a:t>certo</a:t>
            </a:r>
            <a:r>
              <a:rPr lang="en-US" sz="2400"/>
              <a:t> que se </a:t>
            </a:r>
            <a:r>
              <a:rPr lang="en-US" sz="2400" err="1"/>
              <a:t>trate</a:t>
            </a:r>
            <a:r>
              <a:rPr lang="en-US" sz="2400"/>
              <a:t> de um conjunto de </a:t>
            </a:r>
            <a:r>
              <a:rPr lang="en-US" sz="2400" err="1"/>
              <a:t>arestas</a:t>
            </a:r>
            <a:r>
              <a:rPr lang="en-US" sz="2400"/>
              <a:t> </a:t>
            </a:r>
            <a:r>
              <a:rPr lang="en-US" sz="2400" err="1"/>
              <a:t>disjuntas</a:t>
            </a:r>
            <a:r>
              <a:rPr lang="en-US" sz="2400"/>
              <a:t> </a:t>
            </a:r>
            <a:r>
              <a:rPr lang="en-US" sz="2400" err="1"/>
              <a:t>ou</a:t>
            </a:r>
            <a:r>
              <a:rPr lang="en-US" sz="2400"/>
              <a:t> um </a:t>
            </a:r>
            <a:r>
              <a:rPr lang="en-US" sz="2400" err="1"/>
              <a:t>caminho</a:t>
            </a:r>
            <a:r>
              <a:rPr lang="en-US" sz="2400"/>
              <a:t> entre </a:t>
            </a:r>
            <a:r>
              <a:rPr lang="en-US" sz="2400" err="1"/>
              <a:t>dois</a:t>
            </a:r>
            <a:r>
              <a:rPr lang="en-US" sz="2400"/>
              <a:t> </a:t>
            </a:r>
            <a:r>
              <a:rPr lang="en-US" sz="2400" err="1"/>
              <a:t>vértices</a:t>
            </a:r>
            <a:r>
              <a:rPr lang="en-US" sz="2400"/>
              <a:t>. </a:t>
            </a:r>
            <a:endParaRPr lang="en-US"/>
          </a:p>
          <a:p>
            <a:pPr algn="just"/>
            <a:r>
              <a:rPr lang="en-US" sz="2400"/>
              <a:t>Dessa forma, é </a:t>
            </a:r>
            <a:r>
              <a:rPr lang="en-US" sz="2400" err="1"/>
              <a:t>possível</a:t>
            </a:r>
            <a:r>
              <a:rPr lang="en-US" sz="2400"/>
              <a:t> </a:t>
            </a:r>
            <a:r>
              <a:rPr lang="en-US" sz="2400" err="1"/>
              <a:t>preceber</a:t>
            </a:r>
            <a:r>
              <a:rPr lang="en-US" sz="2400"/>
              <a:t> de </a:t>
            </a:r>
            <a:r>
              <a:rPr lang="en-US" sz="2400" err="1"/>
              <a:t>maneira</a:t>
            </a:r>
            <a:r>
              <a:rPr lang="en-US" sz="2400"/>
              <a:t> trivial que </a:t>
            </a:r>
            <a:r>
              <a:rPr lang="en-US"/>
              <a:t>χ(𝐺) = 2 </a:t>
            </a:r>
            <a:r>
              <a:rPr lang="en-US" sz="2400"/>
              <a:t>e, para a </a:t>
            </a:r>
            <a:r>
              <a:rPr lang="en-US" sz="2400" err="1"/>
              <a:t>coloração</a:t>
            </a:r>
            <a:r>
              <a:rPr lang="en-US" sz="2400"/>
              <a:t> de </a:t>
            </a:r>
            <a:r>
              <a:rPr lang="en-US" sz="2400" err="1"/>
              <a:t>arestas</a:t>
            </a:r>
            <a:r>
              <a:rPr lang="en-US" sz="2400"/>
              <a:t>, </a:t>
            </a:r>
            <a:r>
              <a:rPr lang="en-US" sz="2400" err="1"/>
              <a:t>será</a:t>
            </a:r>
            <a:r>
              <a:rPr lang="en-US" sz="2400"/>
              <a:t> </a:t>
            </a:r>
            <a:r>
              <a:rPr lang="en-US" sz="2400" err="1"/>
              <a:t>necessário</a:t>
            </a:r>
            <a:r>
              <a:rPr lang="en-US" sz="2400"/>
              <a:t> </a:t>
            </a:r>
            <a:r>
              <a:rPr lang="en-US" sz="2400" err="1"/>
              <a:t>uma</a:t>
            </a:r>
            <a:r>
              <a:rPr lang="en-US" sz="2400"/>
              <a:t> </a:t>
            </a:r>
            <a:r>
              <a:rPr lang="en-US" sz="2400" err="1"/>
              <a:t>cor</a:t>
            </a:r>
            <a:r>
              <a:rPr lang="en-US" sz="2400"/>
              <a:t> </a:t>
            </a:r>
            <a:r>
              <a:rPr lang="en-US" sz="2400" err="1"/>
              <a:t>adicional</a:t>
            </a:r>
            <a:r>
              <a:rPr lang="en-US" sz="2400"/>
              <a:t>.</a:t>
            </a:r>
            <a:endParaRPr lang="en-US"/>
          </a:p>
          <a:p>
            <a:pPr algn="just"/>
            <a:r>
              <a:rPr lang="en-US" sz="2400" err="1"/>
              <a:t>Portanto</a:t>
            </a:r>
            <a:r>
              <a:rPr lang="en-US" sz="2400"/>
              <a:t>, </a:t>
            </a:r>
            <a:r>
              <a:rPr lang="en-US" sz="2400" err="1"/>
              <a:t>neste</a:t>
            </a:r>
            <a:r>
              <a:rPr lang="en-US" sz="2400"/>
              <a:t> </a:t>
            </a:r>
            <a:r>
              <a:rPr lang="en-US" sz="2400" err="1"/>
              <a:t>caso</a:t>
            </a:r>
            <a:r>
              <a:rPr lang="en-US" sz="2400"/>
              <a:t>, </a:t>
            </a:r>
            <a:r>
              <a:rPr lang="en-US" err="1"/>
              <a:t>χτ</a:t>
            </a:r>
            <a:r>
              <a:rPr lang="en-US"/>
              <a:t>(𝐺) = 3.</a:t>
            </a:r>
            <a:r>
              <a:rPr lang="en-US" sz="2400"/>
              <a:t> </a:t>
            </a:r>
            <a:endParaRPr lang="en-US"/>
          </a:p>
          <a:p>
            <a:pPr algn="just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7C78-0890-627E-C852-B11CAB85CF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E342D9-91ED-DC89-ABA4-05E205956BD2}"/>
              </a:ext>
            </a:extLst>
          </p:cNvPr>
          <p:cNvSpPr/>
          <p:nvPr/>
        </p:nvSpPr>
        <p:spPr>
          <a:xfrm>
            <a:off x="6429555" y="1476555"/>
            <a:ext cx="109268" cy="40630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9" name="Picture 8" descr="A black and white circle with lines&#10;&#10;AI-generated content may be incorrect.">
            <a:extLst>
              <a:ext uri="{FF2B5EF4-FFF2-40B4-BE49-F238E27FC236}">
                <a16:creationId xmlns:a16="http://schemas.microsoft.com/office/drawing/2014/main" id="{341E18AC-4F4D-4C10-8CE0-C2CE86CC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352" y="1478082"/>
            <a:ext cx="1884693" cy="1601459"/>
          </a:xfrm>
          <a:prstGeom prst="rect">
            <a:avLst/>
          </a:prstGeom>
        </p:spPr>
      </p:pic>
      <p:pic>
        <p:nvPicPr>
          <p:cNvPr id="10" name="Picture 9" descr="A red green and blue circles and lines&#10;&#10;AI-generated content may be incorrect.">
            <a:extLst>
              <a:ext uri="{FF2B5EF4-FFF2-40B4-BE49-F238E27FC236}">
                <a16:creationId xmlns:a16="http://schemas.microsoft.com/office/drawing/2014/main" id="{025DF1C6-A8ED-1704-9F52-800FDE4F2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975" y="3936610"/>
            <a:ext cx="1884692" cy="1601459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6AE6A16-799B-9AD9-F8DA-DDF6893A9789}"/>
              </a:ext>
            </a:extLst>
          </p:cNvPr>
          <p:cNvSpPr/>
          <p:nvPr/>
        </p:nvSpPr>
        <p:spPr>
          <a:xfrm rot="5400000">
            <a:off x="8561342" y="3352021"/>
            <a:ext cx="518333" cy="297727"/>
          </a:xfrm>
          <a:prstGeom prst="rightArrow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281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AB99-A706-43D5-2D30-7B8F7170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7A84-54A0-4846-3EE7-DD67A7E7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com Δ(G) </a:t>
            </a:r>
            <a:r>
              <a:rPr lang="en-US" err="1"/>
              <a:t>suficientemente</a:t>
            </a:r>
            <a:r>
              <a:rPr lang="en-US"/>
              <a:t> </a:t>
            </a:r>
            <a:r>
              <a:rPr lang="en-US" err="1"/>
              <a:t>pequeno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19953-3D78-3DAB-5B5F-C66AB3FBD9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38965" y="1608714"/>
            <a:ext cx="9072803" cy="3646673"/>
          </a:xfrm>
        </p:spPr>
        <p:txBody>
          <a:bodyPr vert="horz" lIns="0" tIns="0" rIns="0" bIns="0" rtlCol="0" anchor="t">
            <a:normAutofit/>
          </a:bodyPr>
          <a:lstStyle/>
          <a:p>
            <a:pPr algn="just"/>
            <a:r>
              <a:rPr lang="en-US" sz="2400"/>
              <a:t>Para um </a:t>
            </a:r>
            <a:r>
              <a:rPr lang="en-US" sz="2400" err="1"/>
              <a:t>grafo</a:t>
            </a:r>
            <a:r>
              <a:rPr lang="en-US" sz="2400"/>
              <a:t> G com Δ(G) = 2, </a:t>
            </a:r>
            <a:r>
              <a:rPr lang="en-US" sz="2400" err="1"/>
              <a:t>percebe</a:t>
            </a:r>
            <a:r>
              <a:rPr lang="en-US" sz="2400"/>
              <a:t>-se que o </a:t>
            </a:r>
            <a:r>
              <a:rPr lang="en-US" sz="2400" err="1"/>
              <a:t>grafo</a:t>
            </a:r>
            <a:r>
              <a:rPr lang="en-US" sz="2400"/>
              <a:t> </a:t>
            </a:r>
            <a:r>
              <a:rPr lang="en-US" sz="2400" err="1"/>
              <a:t>pode</a:t>
            </a:r>
            <a:r>
              <a:rPr lang="en-US" sz="2400"/>
              <a:t> </a:t>
            </a:r>
            <a:r>
              <a:rPr lang="en-US" sz="2400" err="1"/>
              <a:t>assumir</a:t>
            </a:r>
            <a:r>
              <a:rPr lang="en-US" sz="2400"/>
              <a:t> a forma de um </a:t>
            </a:r>
            <a:r>
              <a:rPr lang="en-US" sz="2400" err="1"/>
              <a:t>caminho</a:t>
            </a:r>
            <a:r>
              <a:rPr lang="en-US" sz="2400"/>
              <a:t> </a:t>
            </a:r>
            <a:r>
              <a:rPr lang="en-US" sz="2400" err="1"/>
              <a:t>ou</a:t>
            </a:r>
            <a:r>
              <a:rPr lang="en-US" sz="2400"/>
              <a:t> um </a:t>
            </a:r>
            <a:r>
              <a:rPr lang="en-US" sz="2400" err="1"/>
              <a:t>ciclo</a:t>
            </a:r>
            <a:r>
              <a:rPr lang="en-US" sz="2400"/>
              <a:t>.</a:t>
            </a:r>
          </a:p>
          <a:p>
            <a:pPr algn="just"/>
            <a:r>
              <a:rPr lang="en-US" sz="2400"/>
              <a:t>Dessa forma, é </a:t>
            </a:r>
            <a:r>
              <a:rPr lang="en-US" sz="2400" err="1"/>
              <a:t>possível</a:t>
            </a:r>
            <a:r>
              <a:rPr lang="en-US" sz="2400"/>
              <a:t> </a:t>
            </a:r>
            <a:r>
              <a:rPr lang="en-US" sz="2400" err="1"/>
              <a:t>preceber</a:t>
            </a:r>
            <a:r>
              <a:rPr lang="en-US" sz="2400"/>
              <a:t> que </a:t>
            </a:r>
            <a:r>
              <a:rPr lang="en-US"/>
              <a:t>χ(𝐺) = 2 </a:t>
            </a:r>
            <a:r>
              <a:rPr lang="en-US" sz="2400"/>
              <a:t>para </a:t>
            </a:r>
            <a:r>
              <a:rPr lang="en-US" sz="2400" err="1"/>
              <a:t>grafos</a:t>
            </a:r>
            <a:r>
              <a:rPr lang="en-US" sz="2400"/>
              <a:t> com </a:t>
            </a:r>
            <a:r>
              <a:rPr lang="en-US" sz="2400" err="1"/>
              <a:t>ciclos</a:t>
            </a:r>
            <a:r>
              <a:rPr lang="en-US" sz="2400"/>
              <a:t> a pares </a:t>
            </a:r>
            <a:r>
              <a:rPr lang="en-US" sz="2400" err="1"/>
              <a:t>ou</a:t>
            </a:r>
            <a:r>
              <a:rPr lang="en-US" sz="2400"/>
              <a:t> </a:t>
            </a:r>
            <a:r>
              <a:rPr lang="en-US" sz="2400" err="1"/>
              <a:t>sem</a:t>
            </a:r>
            <a:r>
              <a:rPr lang="en-US" sz="2400"/>
              <a:t> </a:t>
            </a:r>
            <a:r>
              <a:rPr lang="en-US" sz="2400" err="1"/>
              <a:t>ciclos</a:t>
            </a:r>
            <a:r>
              <a:rPr lang="en-US" sz="2400"/>
              <a:t>, </a:t>
            </a:r>
            <a:r>
              <a:rPr lang="en-US" sz="2400" err="1"/>
              <a:t>enquanto</a:t>
            </a:r>
            <a:r>
              <a:rPr lang="en-US" sz="2400"/>
              <a:t> para </a:t>
            </a:r>
            <a:r>
              <a:rPr lang="en-US" sz="2400" err="1"/>
              <a:t>ciclos</a:t>
            </a:r>
            <a:r>
              <a:rPr lang="en-US" sz="2400"/>
              <a:t> </a:t>
            </a:r>
            <a:r>
              <a:rPr lang="en-US" sz="2400" err="1"/>
              <a:t>ímpares</a:t>
            </a:r>
            <a:r>
              <a:rPr lang="en-US" sz="2400"/>
              <a:t> </a:t>
            </a:r>
            <a:r>
              <a:rPr lang="en-US"/>
              <a:t>χ(𝐺) = 3. </a:t>
            </a:r>
            <a:r>
              <a:rPr lang="en-US" sz="2400"/>
              <a:t>O </a:t>
            </a:r>
            <a:r>
              <a:rPr lang="en-US" sz="2400" err="1"/>
              <a:t>mesmo</a:t>
            </a:r>
            <a:r>
              <a:rPr lang="en-US" sz="2400"/>
              <a:t>  vale para o </a:t>
            </a:r>
            <a:r>
              <a:rPr lang="en-US" sz="2400" err="1"/>
              <a:t>índice</a:t>
            </a:r>
            <a:r>
              <a:rPr lang="en-US" sz="2400"/>
              <a:t> </a:t>
            </a:r>
            <a:r>
              <a:rPr lang="en-US" sz="2400" err="1"/>
              <a:t>cromático</a:t>
            </a:r>
            <a:endParaRPr lang="en-US" sz="2400"/>
          </a:p>
          <a:p>
            <a:pPr algn="just"/>
            <a:r>
              <a:rPr lang="en-US" sz="2400" err="1"/>
              <a:t>Portanto</a:t>
            </a:r>
            <a:r>
              <a:rPr lang="en-US" sz="2400"/>
              <a:t>, para </a:t>
            </a:r>
            <a:r>
              <a:rPr lang="en-US" sz="2400" err="1"/>
              <a:t>grafos</a:t>
            </a:r>
            <a:r>
              <a:rPr lang="en-US" sz="2400"/>
              <a:t> com </a:t>
            </a:r>
            <a:r>
              <a:rPr lang="en-US" sz="2400" err="1"/>
              <a:t>ciclos</a:t>
            </a:r>
            <a:r>
              <a:rPr lang="en-US" sz="2400"/>
              <a:t> pares </a:t>
            </a:r>
            <a:r>
              <a:rPr lang="en-US" sz="2400" err="1"/>
              <a:t>ou</a:t>
            </a:r>
            <a:r>
              <a:rPr lang="en-US" sz="2400"/>
              <a:t> </a:t>
            </a:r>
            <a:r>
              <a:rPr lang="en-US" sz="2400" err="1"/>
              <a:t>sem</a:t>
            </a:r>
            <a:r>
              <a:rPr lang="en-US" sz="2400"/>
              <a:t> </a:t>
            </a:r>
            <a:r>
              <a:rPr lang="en-US" sz="2400" err="1"/>
              <a:t>ciclos</a:t>
            </a:r>
            <a:r>
              <a:rPr lang="en-US" sz="2400"/>
              <a:t>, </a:t>
            </a:r>
            <a:r>
              <a:rPr lang="en-US" err="1"/>
              <a:t>χτ</a:t>
            </a:r>
            <a:r>
              <a:rPr lang="en-US"/>
              <a:t>(𝐺) = 3 </a:t>
            </a:r>
            <a:r>
              <a:rPr lang="en-US" sz="2400"/>
              <a:t>(</a:t>
            </a:r>
            <a:r>
              <a:rPr lang="en-US" sz="2400" err="1"/>
              <a:t>alternando</a:t>
            </a:r>
            <a:r>
              <a:rPr lang="en-US" sz="2400"/>
              <a:t>-se </a:t>
            </a:r>
            <a:r>
              <a:rPr lang="en-US" sz="2400" err="1"/>
              <a:t>conforme</a:t>
            </a:r>
            <a:r>
              <a:rPr lang="en-US" sz="2400"/>
              <a:t> </a:t>
            </a:r>
            <a:r>
              <a:rPr lang="en-US" sz="2400" err="1"/>
              <a:t>os</a:t>
            </a:r>
            <a:r>
              <a:rPr lang="en-US" sz="2400"/>
              <a:t> </a:t>
            </a:r>
            <a:r>
              <a:rPr lang="en-US" sz="2400" err="1"/>
              <a:t>elementos</a:t>
            </a:r>
            <a:r>
              <a:rPr lang="en-US" sz="2400"/>
              <a:t> do </a:t>
            </a:r>
            <a:r>
              <a:rPr lang="en-US" sz="2400" err="1"/>
              <a:t>grafo</a:t>
            </a:r>
            <a:r>
              <a:rPr lang="en-US" sz="2400"/>
              <a:t> </a:t>
            </a:r>
            <a:r>
              <a:rPr lang="en-US" sz="2400" err="1"/>
              <a:t>são</a:t>
            </a:r>
            <a:r>
              <a:rPr lang="en-US" sz="2400"/>
              <a:t> </a:t>
            </a:r>
            <a:r>
              <a:rPr lang="en-US" sz="2400" err="1"/>
              <a:t>sequencialmente</a:t>
            </a:r>
            <a:r>
              <a:rPr lang="en-US" sz="2400"/>
              <a:t> </a:t>
            </a:r>
            <a:r>
              <a:rPr lang="en-US" sz="2400" err="1"/>
              <a:t>percorridos</a:t>
            </a:r>
            <a:r>
              <a:rPr lang="en-US" sz="2400"/>
              <a:t>), </a:t>
            </a:r>
            <a:r>
              <a:rPr lang="en-US" sz="2400" err="1"/>
              <a:t>enquanto</a:t>
            </a:r>
            <a:r>
              <a:rPr lang="en-US" sz="2400"/>
              <a:t> </a:t>
            </a:r>
            <a:r>
              <a:rPr lang="en-US" err="1"/>
              <a:t>χτ</a:t>
            </a:r>
            <a:r>
              <a:rPr lang="en-US"/>
              <a:t>(𝐺) = 4 </a:t>
            </a:r>
            <a:r>
              <a:rPr lang="en-US" sz="2400"/>
              <a:t>para </a:t>
            </a:r>
            <a:r>
              <a:rPr lang="en-US" sz="2400" err="1"/>
              <a:t>grafos</a:t>
            </a:r>
            <a:r>
              <a:rPr lang="en-US" sz="2400"/>
              <a:t> de </a:t>
            </a:r>
            <a:r>
              <a:rPr lang="en-US" sz="2400" err="1"/>
              <a:t>ciclos</a:t>
            </a:r>
            <a:r>
              <a:rPr lang="en-US" sz="2400"/>
              <a:t> </a:t>
            </a:r>
            <a:r>
              <a:rPr lang="en-US" sz="2400" err="1"/>
              <a:t>ímpares</a:t>
            </a:r>
            <a:r>
              <a:rPr lang="en-US" sz="2400"/>
              <a:t>.</a:t>
            </a:r>
          </a:p>
          <a:p>
            <a:pPr algn="just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F5F43-6C9D-1ADE-D34E-274B292E7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6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209C-BB9B-0CBE-9E76-8532D5AD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A748-0F76-9073-BB83-B27A9BFF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com Δ(G) </a:t>
            </a:r>
            <a:r>
              <a:rPr lang="en-US" err="1"/>
              <a:t>suficientemente</a:t>
            </a:r>
            <a:r>
              <a:rPr lang="en-US"/>
              <a:t> </a:t>
            </a:r>
            <a:r>
              <a:rPr lang="en-US" err="1"/>
              <a:t>pequeno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A1683-0F89-E80D-ED1D-A1DD55DBF2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008D95-4CB7-2C10-50AF-7470EF407B4A}"/>
              </a:ext>
            </a:extLst>
          </p:cNvPr>
          <p:cNvSpPr/>
          <p:nvPr/>
        </p:nvSpPr>
        <p:spPr>
          <a:xfrm>
            <a:off x="4790536" y="1519687"/>
            <a:ext cx="109268" cy="40630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7" name="Picture 6" descr="A black line drawing of a network&#10;&#10;AI-generated content may be incorrect.">
            <a:extLst>
              <a:ext uri="{FF2B5EF4-FFF2-40B4-BE49-F238E27FC236}">
                <a16:creationId xmlns:a16="http://schemas.microsoft.com/office/drawing/2014/main" id="{973F3F88-7FFA-2B24-3AC8-B7EBD3F6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192" y="1517081"/>
            <a:ext cx="2628900" cy="1609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659662-949B-BF69-9A43-FBB826DDF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92" y="3975610"/>
            <a:ext cx="2628900" cy="160972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3BBBE53-95F9-200C-2A5F-4E40A511AC1F}"/>
              </a:ext>
            </a:extLst>
          </p:cNvPr>
          <p:cNvSpPr/>
          <p:nvPr/>
        </p:nvSpPr>
        <p:spPr>
          <a:xfrm rot="5400000">
            <a:off x="2882285" y="3395152"/>
            <a:ext cx="518333" cy="297727"/>
          </a:xfrm>
          <a:prstGeom prst="rightArrow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7" name="Picture 16" descr="A hexagon with circles and lines&#10;&#10;AI-generated content may be incorrect.">
            <a:extLst>
              <a:ext uri="{FF2B5EF4-FFF2-40B4-BE49-F238E27FC236}">
                <a16:creationId xmlns:a16="http://schemas.microsoft.com/office/drawing/2014/main" id="{794ECF07-CA1D-EE53-F450-261F4C138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787" y="1520226"/>
            <a:ext cx="1908954" cy="1847850"/>
          </a:xfrm>
          <a:prstGeom prst="rect">
            <a:avLst/>
          </a:prstGeom>
        </p:spPr>
      </p:pic>
      <p:pic>
        <p:nvPicPr>
          <p:cNvPr id="18" name="Picture 17" descr="A hexagon with circles and lines&#10;&#10;AI-generated content may be incorrect.">
            <a:extLst>
              <a:ext uri="{FF2B5EF4-FFF2-40B4-BE49-F238E27FC236}">
                <a16:creationId xmlns:a16="http://schemas.microsoft.com/office/drawing/2014/main" id="{1920170E-1F42-0CE3-B04F-BC47E9AEF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787" y="3849358"/>
            <a:ext cx="1908954" cy="1847850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2DEB4267-13D3-26CA-D5C4-35573420C72A}"/>
              </a:ext>
            </a:extLst>
          </p:cNvPr>
          <p:cNvSpPr/>
          <p:nvPr/>
        </p:nvSpPr>
        <p:spPr>
          <a:xfrm rot="5400000">
            <a:off x="5994983" y="3517359"/>
            <a:ext cx="360183" cy="240218"/>
          </a:xfrm>
          <a:prstGeom prst="rightArrow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79C888-F932-AB15-BDD1-8ECF255DD66F}"/>
              </a:ext>
            </a:extLst>
          </p:cNvPr>
          <p:cNvSpPr/>
          <p:nvPr/>
        </p:nvSpPr>
        <p:spPr>
          <a:xfrm>
            <a:off x="7464724" y="1605951"/>
            <a:ext cx="109268" cy="40630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1513E32-3C51-270B-C313-B71C75ED86E7}"/>
              </a:ext>
            </a:extLst>
          </p:cNvPr>
          <p:cNvSpPr/>
          <p:nvPr/>
        </p:nvSpPr>
        <p:spPr>
          <a:xfrm rot="5400000">
            <a:off x="8654794" y="3546113"/>
            <a:ext cx="360183" cy="240218"/>
          </a:xfrm>
          <a:prstGeom prst="rightArrow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5" name="Picture 4" descr="A black and white circular diagram&#10;&#10;AI-generated content may be incorrect.">
            <a:extLst>
              <a:ext uri="{FF2B5EF4-FFF2-40B4-BE49-F238E27FC236}">
                <a16:creationId xmlns:a16="http://schemas.microsoft.com/office/drawing/2014/main" id="{776EA90C-DC52-90F5-6D19-D43A32CC8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7443" y="1604512"/>
            <a:ext cx="1875527" cy="1765541"/>
          </a:xfrm>
          <a:prstGeom prst="rect">
            <a:avLst/>
          </a:prstGeom>
        </p:spPr>
      </p:pic>
      <p:pic>
        <p:nvPicPr>
          <p:cNvPr id="3" name="Picture 2" descr="A colorful circle with lines and dots&#10;&#10;AI-generated content may be incorrect.">
            <a:extLst>
              <a:ext uri="{FF2B5EF4-FFF2-40B4-BE49-F238E27FC236}">
                <a16:creationId xmlns:a16="http://schemas.microsoft.com/office/drawing/2014/main" id="{845752EC-735D-6D67-2513-2C6737E181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444" y="3933645"/>
            <a:ext cx="1774885" cy="176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50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E477-8095-A21A-89D8-893C8456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8F07-0ACA-DBAE-DC59-846BB54C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com Δ(G) </a:t>
            </a:r>
            <a:r>
              <a:rPr lang="en-US" err="1"/>
              <a:t>suficientemente</a:t>
            </a:r>
            <a:r>
              <a:rPr lang="en-US"/>
              <a:t> </a:t>
            </a:r>
            <a:r>
              <a:rPr lang="en-US" err="1"/>
              <a:t>pequeno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51199-3EEF-FC25-3AF3-31E403ECF1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38965" y="1608714"/>
            <a:ext cx="9072803" cy="3646673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pPr algn="just"/>
            <a:r>
              <a:rPr lang="en-US" sz="2400"/>
              <a:t>Para um </a:t>
            </a:r>
            <a:r>
              <a:rPr lang="en-US" sz="2400" err="1"/>
              <a:t>grafo</a:t>
            </a:r>
            <a:r>
              <a:rPr lang="en-US" sz="2400"/>
              <a:t> </a:t>
            </a:r>
            <a:r>
              <a:rPr lang="en-US" sz="2100"/>
              <a:t>𝐺</a:t>
            </a:r>
            <a:r>
              <a:rPr lang="en-US" sz="2400"/>
              <a:t> com Δ(</a:t>
            </a:r>
            <a:r>
              <a:rPr lang="en-US" sz="2100"/>
              <a:t>𝐺</a:t>
            </a:r>
            <a:r>
              <a:rPr lang="en-US" sz="2400"/>
              <a:t>) = 3 </a:t>
            </a:r>
            <a:r>
              <a:rPr lang="en-US" sz="2400" err="1"/>
              <a:t>ou</a:t>
            </a:r>
            <a:r>
              <a:rPr lang="en-US" sz="2400"/>
              <a:t> Δ(</a:t>
            </a:r>
            <a:r>
              <a:rPr lang="en-US" sz="2100"/>
              <a:t>𝐺</a:t>
            </a:r>
            <a:r>
              <a:rPr lang="en-US" sz="2400"/>
              <a:t>) = 4, </a:t>
            </a:r>
            <a:r>
              <a:rPr lang="en-US" sz="2400" err="1"/>
              <a:t>faz</a:t>
            </a:r>
            <a:r>
              <a:rPr lang="en-US" sz="2400"/>
              <a:t>-se </a:t>
            </a:r>
            <a:r>
              <a:rPr lang="en-US" sz="2400" err="1"/>
              <a:t>uso</a:t>
            </a:r>
            <a:r>
              <a:rPr lang="en-US" sz="2400"/>
              <a:t> do </a:t>
            </a:r>
            <a:r>
              <a:rPr lang="en-US" sz="2400" err="1"/>
              <a:t>Teorema</a:t>
            </a:r>
            <a:r>
              <a:rPr lang="en-US" sz="2400"/>
              <a:t> de Brooks e do </a:t>
            </a:r>
            <a:r>
              <a:rPr lang="en-US" sz="2400" err="1"/>
              <a:t>Teorema</a:t>
            </a:r>
            <a:r>
              <a:rPr lang="en-US" sz="2400"/>
              <a:t> de </a:t>
            </a:r>
            <a:r>
              <a:rPr lang="en-US" sz="2400" err="1"/>
              <a:t>Vizing</a:t>
            </a:r>
            <a:r>
              <a:rPr lang="en-US" sz="2400"/>
              <a:t> para </a:t>
            </a:r>
            <a:r>
              <a:rPr lang="en-US" sz="2400" err="1"/>
              <a:t>obter</a:t>
            </a:r>
            <a:r>
              <a:rPr lang="en-US" sz="2400"/>
              <a:t> o </a:t>
            </a:r>
            <a:r>
              <a:rPr lang="en-US" sz="2400" err="1"/>
              <a:t>número</a:t>
            </a:r>
            <a:r>
              <a:rPr lang="en-US" sz="2400"/>
              <a:t> </a:t>
            </a:r>
            <a:r>
              <a:rPr lang="en-US" sz="2400" err="1"/>
              <a:t>cromático</a:t>
            </a:r>
            <a:r>
              <a:rPr lang="en-US" sz="2400"/>
              <a:t> total.</a:t>
            </a:r>
          </a:p>
          <a:p>
            <a:pPr algn="just"/>
            <a:r>
              <a:rPr lang="en-US" sz="2400"/>
              <a:t>Dessa forma, para </a:t>
            </a:r>
            <a:r>
              <a:rPr lang="en-US" sz="2400" err="1"/>
              <a:t>qualquer</a:t>
            </a:r>
            <a:r>
              <a:rPr lang="en-US" sz="2400"/>
              <a:t>  </a:t>
            </a:r>
            <a:r>
              <a:rPr lang="en-US" sz="2400" err="1"/>
              <a:t>grafo</a:t>
            </a:r>
            <a:r>
              <a:rPr lang="en-US" sz="2400"/>
              <a:t> </a:t>
            </a:r>
            <a:r>
              <a:rPr lang="en-US" sz="2100"/>
              <a:t>𝐺</a:t>
            </a:r>
            <a:r>
              <a:rPr lang="en-US" sz="2400"/>
              <a:t> que </a:t>
            </a:r>
            <a:r>
              <a:rPr lang="en-US" sz="2400" err="1"/>
              <a:t>assuma</a:t>
            </a:r>
            <a:r>
              <a:rPr lang="en-US" sz="2400"/>
              <a:t> a forma de um </a:t>
            </a:r>
            <a:r>
              <a:rPr lang="en-US" sz="2400" err="1"/>
              <a:t>grafo</a:t>
            </a:r>
            <a:r>
              <a:rPr lang="en-US" sz="2400"/>
              <a:t> 3-regular:</a:t>
            </a:r>
            <a:endParaRPr lang="en-US" sz="2100"/>
          </a:p>
          <a:p>
            <a:pPr algn="ctr"/>
            <a:r>
              <a:rPr lang="en-US" sz="2600"/>
              <a:t> </a:t>
            </a:r>
            <a:r>
              <a:rPr lang="en-US" sz="2400" err="1"/>
              <a:t>χτ</a:t>
            </a:r>
            <a:r>
              <a:rPr lang="en-US" sz="2400"/>
              <a:t>(𝐺) </a:t>
            </a:r>
            <a:r>
              <a:rPr lang="en-US" sz="2600"/>
              <a:t>= Δ(</a:t>
            </a:r>
            <a:r>
              <a:rPr lang="en-US" sz="2200"/>
              <a:t>𝐺</a:t>
            </a:r>
            <a:r>
              <a:rPr lang="en-US" sz="2600"/>
              <a:t>) + 2</a:t>
            </a:r>
          </a:p>
          <a:p>
            <a:pPr algn="just"/>
            <a:r>
              <a:rPr lang="en-US" sz="2400" err="1"/>
              <a:t>Enquanto</a:t>
            </a:r>
            <a:r>
              <a:rPr lang="en-US" sz="2400"/>
              <a:t> que, para </a:t>
            </a:r>
            <a:r>
              <a:rPr lang="en-US" sz="2400" err="1"/>
              <a:t>qualquer</a:t>
            </a:r>
            <a:r>
              <a:rPr lang="en-US" sz="2400"/>
              <a:t> outro </a:t>
            </a:r>
            <a:r>
              <a:rPr lang="en-US" sz="2400" err="1"/>
              <a:t>grafo</a:t>
            </a:r>
            <a:r>
              <a:rPr lang="en-US" sz="2400"/>
              <a:t> 𝐺:</a:t>
            </a:r>
            <a:endParaRPr lang="en-US"/>
          </a:p>
          <a:p>
            <a:pPr algn="ctr"/>
            <a:r>
              <a:rPr lang="en-US" sz="2400" err="1"/>
              <a:t>χτ</a:t>
            </a:r>
            <a:r>
              <a:rPr lang="en-US" sz="2400"/>
              <a:t>(𝐺) = </a:t>
            </a:r>
            <a:r>
              <a:rPr lang="en-US" sz="2600"/>
              <a:t>Δ(</a:t>
            </a:r>
            <a:r>
              <a:rPr lang="en-US" sz="2200"/>
              <a:t>𝐺</a:t>
            </a:r>
            <a:r>
              <a:rPr lang="en-US" sz="2600"/>
              <a:t>) + 1</a:t>
            </a:r>
          </a:p>
          <a:p>
            <a:pPr algn="just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B6761-9B9C-645B-7972-FB6F9A57C1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43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1B67-BABF-92E1-0502-A61AC963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673D-4E06-FE83-12EE-A535487C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com Δ(G) </a:t>
            </a:r>
            <a:r>
              <a:rPr lang="en-US" err="1"/>
              <a:t>suficientemente</a:t>
            </a:r>
            <a:r>
              <a:rPr lang="en-US"/>
              <a:t> </a:t>
            </a:r>
            <a:r>
              <a:rPr lang="en-US" err="1"/>
              <a:t>pequeno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93F2F-7F96-AC6A-1386-5E3F6E90C9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C82104-1288-B1C7-4AC2-AC3810FD0960}"/>
              </a:ext>
            </a:extLst>
          </p:cNvPr>
          <p:cNvSpPr/>
          <p:nvPr/>
        </p:nvSpPr>
        <p:spPr>
          <a:xfrm>
            <a:off x="5624423" y="1519687"/>
            <a:ext cx="109268" cy="40630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E53A96E-F824-3140-5E62-C50A4A183D19}"/>
              </a:ext>
            </a:extLst>
          </p:cNvPr>
          <p:cNvSpPr/>
          <p:nvPr/>
        </p:nvSpPr>
        <p:spPr>
          <a:xfrm rot="5400000">
            <a:off x="4118738" y="3409529"/>
            <a:ext cx="518333" cy="297727"/>
          </a:xfrm>
          <a:prstGeom prst="rightArrow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E4C6F3F-7111-2DAC-9BDA-BB93713490CE}"/>
              </a:ext>
            </a:extLst>
          </p:cNvPr>
          <p:cNvSpPr/>
          <p:nvPr/>
        </p:nvSpPr>
        <p:spPr>
          <a:xfrm rot="5400000">
            <a:off x="6828870" y="3517359"/>
            <a:ext cx="360183" cy="240218"/>
          </a:xfrm>
          <a:prstGeom prst="rightArrow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drawing of a triangle with circles and lines&#10;&#10;AI-generated content may be incorrect.">
            <a:extLst>
              <a:ext uri="{FF2B5EF4-FFF2-40B4-BE49-F238E27FC236}">
                <a16:creationId xmlns:a16="http://schemas.microsoft.com/office/drawing/2014/main" id="{61677E7B-FBC7-63D0-312C-376A11F4B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303" y="1530558"/>
            <a:ext cx="1965208" cy="1582769"/>
          </a:xfrm>
          <a:prstGeom prst="rect">
            <a:avLst/>
          </a:prstGeom>
        </p:spPr>
      </p:pic>
      <p:pic>
        <p:nvPicPr>
          <p:cNvPr id="5" name="Picture 4" descr="A colorful circles and lines connected to each other&#10;&#10;AI-generated content may be incorrect.">
            <a:extLst>
              <a:ext uri="{FF2B5EF4-FFF2-40B4-BE49-F238E27FC236}">
                <a16:creationId xmlns:a16="http://schemas.microsoft.com/office/drawing/2014/main" id="{3D730DAC-7B57-1952-2C8C-FF6C4EFCB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303" y="3945955"/>
            <a:ext cx="1965207" cy="1582768"/>
          </a:xfrm>
          <a:prstGeom prst="rect">
            <a:avLst/>
          </a:prstGeom>
        </p:spPr>
      </p:pic>
      <p:pic>
        <p:nvPicPr>
          <p:cNvPr id="6" name="Picture 5" descr="A colorful network diagram with circles and lines&#10;&#10;AI-generated content may be incorrect.">
            <a:extLst>
              <a:ext uri="{FF2B5EF4-FFF2-40B4-BE49-F238E27FC236}">
                <a16:creationId xmlns:a16="http://schemas.microsoft.com/office/drawing/2014/main" id="{EBC733CB-5050-E679-AB12-4BC2098C0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350" y="3936431"/>
            <a:ext cx="1886848" cy="1644950"/>
          </a:xfrm>
          <a:prstGeom prst="rect">
            <a:avLst/>
          </a:prstGeom>
        </p:spPr>
      </p:pic>
      <p:pic>
        <p:nvPicPr>
          <p:cNvPr id="7" name="Picture 6" descr="A black and white diagram&#10;&#10;AI-generated content may be incorrect.">
            <a:extLst>
              <a:ext uri="{FF2B5EF4-FFF2-40B4-BE49-F238E27FC236}">
                <a16:creationId xmlns:a16="http://schemas.microsoft.com/office/drawing/2014/main" id="{3B2DE580-9893-0E00-FD93-72035B6BE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8349" y="1521034"/>
            <a:ext cx="1886849" cy="171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69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EBB7-05F9-4278-BBE0-004BDFCE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BF5-905D-EE85-2346-F37B091F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com Δ(G) </a:t>
            </a:r>
            <a:r>
              <a:rPr lang="en-US" err="1"/>
              <a:t>suficientemente</a:t>
            </a:r>
            <a:r>
              <a:rPr lang="en-US"/>
              <a:t> Grande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5E8A8-02E1-B0FB-892E-9F8F2FD353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38965" y="1608714"/>
            <a:ext cx="9072803" cy="3646673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pPr algn="just"/>
            <a:r>
              <a:rPr lang="pt-BR" sz="2200"/>
              <a:t>Por fim, para grafos de grau suficientemente grandes, pode-se afirmar que um grafo nas configurações delimitadas é caracterizado por ser um grafo completo ou denso. </a:t>
            </a:r>
            <a:endParaRPr lang="en-US" sz="2200"/>
          </a:p>
          <a:p>
            <a:pPr algn="ctr"/>
            <a:r>
              <a:rPr lang="en-US" sz="2200"/>
              <a:t>Δ(</a:t>
            </a:r>
            <a:r>
              <a:rPr lang="en-US" sz="2400"/>
              <a:t>𝐺</a:t>
            </a:r>
            <a:r>
              <a:rPr lang="en-US" sz="2200"/>
              <a:t>) = |</a:t>
            </a:r>
            <a:r>
              <a:rPr lang="en-US" sz="2400"/>
              <a:t>𝐺</a:t>
            </a:r>
            <a:r>
              <a:rPr lang="en-US" sz="2200"/>
              <a:t>| - 5</a:t>
            </a:r>
          </a:p>
          <a:p>
            <a:pPr algn="just"/>
            <a:r>
              <a:rPr lang="pt-BR" sz="2200"/>
              <a:t>Caso seja um grafo completo, sua adequação à Conjectura de Coloração Total já foi comprovada. Enquanto para grafos densos, a maior parte de seus vértices terá grau igual à |G|-1, o que os aproxima de grafos completos, inclusive em seu comportamento. </a:t>
            </a:r>
            <a:endParaRPr lang="en-US" sz="2200"/>
          </a:p>
          <a:p>
            <a:pPr algn="just"/>
            <a:r>
              <a:rPr lang="pt-BR" sz="2200"/>
              <a:t>Logo, pode-se dizer que a TCC persiste para grafos densos devido a sua proximidade estrutural com grafos completos.</a:t>
            </a:r>
            <a:endParaRPr lang="en-US" sz="2200"/>
          </a:p>
          <a:p>
            <a:pPr algn="just"/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1E564-9E70-4D8F-8B83-85904B5F34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68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AEE5-87F3-7CC4-4220-BEEE0D75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A2155FEB-C7F9-CBE7-9A30-E6DB4AEA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80" y="2183575"/>
            <a:ext cx="6185312" cy="3867765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Planares</a:t>
            </a:r>
            <a:br>
              <a:rPr lang="en-US"/>
            </a:b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8FF3C69-F111-7EFD-03BA-1373C363EB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9726040B-6573-AD51-BD5C-12B8AFA24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305D94A-E870-3028-2118-C25A99506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E273799-A6B7-2D2F-D28C-58EE5DC95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Dual graph - Wikipedia">
            <a:extLst>
              <a:ext uri="{FF2B5EF4-FFF2-40B4-BE49-F238E27FC236}">
                <a16:creationId xmlns:a16="http://schemas.microsoft.com/office/drawing/2014/main" id="{FB696DC6-9212-0B5E-2969-E44BCAEC4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49687" y="1508991"/>
            <a:ext cx="5499030" cy="384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25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FC7C-467F-85A6-877C-92A05E45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4F248-1FCA-BCE9-BDCB-8BEAC667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Grafo</a:t>
            </a:r>
            <a:r>
              <a:rPr lang="en-US"/>
              <a:t> Planar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AC5FF-5306-4408-8719-A2507AB979E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685" y="1293439"/>
            <a:ext cx="6418893" cy="379378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Por </a:t>
            </a:r>
            <a:r>
              <a:rPr lang="en-US" sz="2400" err="1">
                <a:ea typeface="+mn-lt"/>
                <a:cs typeface="+mn-lt"/>
              </a:rPr>
              <a:t>grafo</a:t>
            </a:r>
            <a:r>
              <a:rPr lang="en-US" sz="2400">
                <a:ea typeface="+mn-lt"/>
                <a:cs typeface="+mn-lt"/>
              </a:rPr>
              <a:t> planar, </a:t>
            </a:r>
            <a:r>
              <a:rPr lang="en-US" sz="2400" err="1">
                <a:ea typeface="+mn-lt"/>
                <a:cs typeface="+mn-lt"/>
              </a:rPr>
              <a:t>entende</a:t>
            </a:r>
            <a:r>
              <a:rPr lang="en-US" sz="2400">
                <a:ea typeface="+mn-lt"/>
                <a:cs typeface="+mn-lt"/>
              </a:rPr>
              <a:t>-se um </a:t>
            </a:r>
            <a:r>
              <a:rPr lang="en-US" sz="2400" err="1">
                <a:ea typeface="+mn-lt"/>
                <a:cs typeface="+mn-lt"/>
              </a:rPr>
              <a:t>grafo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200">
                <a:ea typeface="+mn-lt"/>
                <a:cs typeface="+mn-lt"/>
              </a:rPr>
              <a:t>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descrito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pelo</a:t>
            </a:r>
            <a:r>
              <a:rPr lang="en-US" sz="2400">
                <a:ea typeface="+mn-lt"/>
                <a:cs typeface="+mn-lt"/>
              </a:rPr>
              <a:t> par (V, E), </a:t>
            </a:r>
            <a:r>
              <a:rPr lang="en-US" sz="2400" err="1">
                <a:ea typeface="+mn-lt"/>
                <a:cs typeface="+mn-lt"/>
              </a:rPr>
              <a:t>tal</a:t>
            </a:r>
            <a:r>
              <a:rPr lang="en-US" sz="2400">
                <a:ea typeface="+mn-lt"/>
                <a:cs typeface="+mn-lt"/>
              </a:rPr>
              <a:t> que:</a:t>
            </a:r>
          </a:p>
          <a:p>
            <a:pPr marL="342900" indent="-342900">
              <a:buChar char="•"/>
            </a:pPr>
            <a:r>
              <a:rPr lang="en-US" sz="2400"/>
              <a:t>V </a:t>
            </a:r>
            <a:r>
              <a:rPr lang="en-US" sz="2400">
                <a:ea typeface="+mn-lt"/>
                <a:cs typeface="+mn-lt"/>
              </a:rPr>
              <a:t>⊆ ℝ²;</a:t>
            </a:r>
            <a:endParaRPr lang="en-US"/>
          </a:p>
          <a:p>
            <a:pPr marL="342900" indent="-342900">
              <a:buChar char="•"/>
            </a:pPr>
            <a:r>
              <a:rPr lang="en-US" sz="2400">
                <a:ea typeface="+mn-lt"/>
                <a:cs typeface="+mn-lt"/>
              </a:rPr>
              <a:t>Cada </a:t>
            </a:r>
            <a:r>
              <a:rPr lang="en-US" sz="2400" err="1">
                <a:ea typeface="+mn-lt"/>
                <a:cs typeface="+mn-lt"/>
              </a:rPr>
              <a:t>aresta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seja</a:t>
            </a:r>
            <a:r>
              <a:rPr lang="en-US" sz="2400">
                <a:ea typeface="+mn-lt"/>
                <a:cs typeface="+mn-lt"/>
              </a:rPr>
              <a:t> um arco </a:t>
            </a:r>
            <a:r>
              <a:rPr lang="en-US" sz="2400" err="1">
                <a:ea typeface="+mn-lt"/>
                <a:cs typeface="+mn-lt"/>
              </a:rPr>
              <a:t>poligonal</a:t>
            </a:r>
            <a:r>
              <a:rPr lang="en-US" sz="2400">
                <a:ea typeface="+mn-lt"/>
                <a:cs typeface="+mn-lt"/>
              </a:rPr>
              <a:t> entre </a:t>
            </a:r>
            <a:r>
              <a:rPr lang="en-US" sz="2400" err="1">
                <a:ea typeface="+mn-lt"/>
                <a:cs typeface="+mn-lt"/>
              </a:rPr>
              <a:t>dois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vértices</a:t>
            </a:r>
            <a:r>
              <a:rPr lang="en-US" sz="2400">
                <a:ea typeface="+mn-lt"/>
                <a:cs typeface="+mn-lt"/>
              </a:rPr>
              <a:t>;</a:t>
            </a:r>
            <a:endParaRPr lang="en-US"/>
          </a:p>
          <a:p>
            <a:pPr marL="342900" indent="-342900">
              <a:buChar char="•"/>
            </a:pPr>
            <a:r>
              <a:rPr lang="en-US" sz="2400" err="1">
                <a:ea typeface="+mn-lt"/>
                <a:cs typeface="+mn-lt"/>
              </a:rPr>
              <a:t>Arestas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diferentes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possuem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diferentes</a:t>
            </a:r>
            <a:r>
              <a:rPr lang="en-US" sz="2400">
                <a:ea typeface="+mn-lt"/>
                <a:cs typeface="+mn-lt"/>
              </a:rPr>
              <a:t> conjuntos de </a:t>
            </a:r>
            <a:r>
              <a:rPr lang="en-US" sz="2400" err="1">
                <a:ea typeface="+mn-lt"/>
                <a:cs typeface="+mn-lt"/>
              </a:rPr>
              <a:t>extremidades</a:t>
            </a:r>
            <a:r>
              <a:rPr lang="en-US" sz="2400">
                <a:ea typeface="+mn-lt"/>
                <a:cs typeface="+mn-lt"/>
              </a:rPr>
              <a:t>;</a:t>
            </a:r>
            <a:endParaRPr lang="en-US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US" sz="2400">
                <a:ea typeface="+mn-lt"/>
                <a:cs typeface="+mn-lt"/>
              </a:rPr>
              <a:t>O interior de </a:t>
            </a:r>
            <a:r>
              <a:rPr lang="en-US" sz="2400" err="1">
                <a:ea typeface="+mn-lt"/>
                <a:cs typeface="+mn-lt"/>
              </a:rPr>
              <a:t>uma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aresta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não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contém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vértices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ou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nenhum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ponto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outras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arestas</a:t>
            </a:r>
            <a:endParaRPr lang="en-US"/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C9816-9D6B-F3D6-0FFB-95B48A5D5C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" name="Picture 2" descr="Ata da aula de 06-11-2002">
            <a:extLst>
              <a:ext uri="{FF2B5EF4-FFF2-40B4-BE49-F238E27FC236}">
                <a16:creationId xmlns:a16="http://schemas.microsoft.com/office/drawing/2014/main" id="{3F66FF63-3B1C-B611-DC1C-0BB8DF737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335" y="2273638"/>
            <a:ext cx="3118628" cy="231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64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3DCA-BC3A-FF73-CEFF-588112F2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716D7-D0C5-EBEB-3114-46762A5B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Teorema</a:t>
            </a:r>
            <a:r>
              <a:rPr lang="en-US"/>
              <a:t> de Euler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2CE28-2660-8CC4-8B8E-4AB32D7E1D9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53986" y="1565582"/>
            <a:ext cx="8583971" cy="258274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Seja 𝐺 um </a:t>
            </a:r>
            <a:r>
              <a:rPr lang="en-US" sz="2400" err="1">
                <a:ea typeface="+mn-lt"/>
                <a:cs typeface="+mn-lt"/>
              </a:rPr>
              <a:t>grafo</a:t>
            </a:r>
            <a:r>
              <a:rPr lang="en-US" sz="2400">
                <a:ea typeface="+mn-lt"/>
                <a:cs typeface="+mn-lt"/>
              </a:rPr>
              <a:t> planar de 𝑛 </a:t>
            </a:r>
            <a:r>
              <a:rPr lang="en-US" sz="2400" err="1">
                <a:ea typeface="+mn-lt"/>
                <a:cs typeface="+mn-lt"/>
              </a:rPr>
              <a:t>vértices</a:t>
            </a:r>
            <a:r>
              <a:rPr lang="en-US" sz="2400">
                <a:ea typeface="+mn-lt"/>
                <a:cs typeface="+mn-lt"/>
              </a:rPr>
              <a:t>, 𝑚 </a:t>
            </a:r>
            <a:r>
              <a:rPr lang="en-US" sz="2400" err="1">
                <a:ea typeface="+mn-lt"/>
                <a:cs typeface="+mn-lt"/>
              </a:rPr>
              <a:t>arestas</a:t>
            </a:r>
            <a:r>
              <a:rPr lang="en-US" sz="2400">
                <a:ea typeface="+mn-lt"/>
                <a:cs typeface="+mn-lt"/>
              </a:rPr>
              <a:t> e 𝑙 faces. </a:t>
            </a:r>
            <a:r>
              <a:rPr lang="en-US" sz="2400" err="1">
                <a:ea typeface="+mn-lt"/>
                <a:cs typeface="+mn-lt"/>
              </a:rPr>
              <a:t>Então</a:t>
            </a:r>
            <a:r>
              <a:rPr lang="en-US" sz="2400">
                <a:ea typeface="+mn-lt"/>
                <a:cs typeface="+mn-lt"/>
              </a:rPr>
              <a:t>:</a:t>
            </a:r>
          </a:p>
          <a:p>
            <a:pPr algn="ctr"/>
            <a:r>
              <a:rPr lang="en-US" sz="2400"/>
              <a:t> </a:t>
            </a:r>
            <a:r>
              <a:rPr lang="en-US" sz="2400">
                <a:ea typeface="+mn-lt"/>
                <a:cs typeface="+mn-lt"/>
              </a:rPr>
              <a:t>𝑛 − 𝑚 + 𝑙 = 2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71507-C52E-85B7-2825-9486249C6D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4" descr="Característica de Euler – Wikipédia, a enciclopédia livre">
            <a:extLst>
              <a:ext uri="{FF2B5EF4-FFF2-40B4-BE49-F238E27FC236}">
                <a16:creationId xmlns:a16="http://schemas.microsoft.com/office/drawing/2014/main" id="{2EF53071-069F-2C68-B96A-7480A94E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8" y="3152366"/>
            <a:ext cx="2239993" cy="2407946"/>
          </a:xfrm>
          <a:prstGeom prst="rect">
            <a:avLst/>
          </a:prstGeom>
        </p:spPr>
      </p:pic>
      <p:pic>
        <p:nvPicPr>
          <p:cNvPr id="7" name="Picture 6" descr="File:Augmented truncated cube.png - Wikipedia">
            <a:extLst>
              <a:ext uri="{FF2B5EF4-FFF2-40B4-BE49-F238E27FC236}">
                <a16:creationId xmlns:a16="http://schemas.microsoft.com/office/drawing/2014/main" id="{5639EE7B-8513-847B-64F7-A8E908955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626" y="3150079"/>
            <a:ext cx="2398144" cy="2412521"/>
          </a:xfrm>
          <a:prstGeom prst="rect">
            <a:avLst/>
          </a:prstGeom>
        </p:spPr>
      </p:pic>
      <p:pic>
        <p:nvPicPr>
          <p:cNvPr id="8" name="Picture 7" descr="Prismă hexagonală triaugmentată - Wikipedia">
            <a:extLst>
              <a:ext uri="{FF2B5EF4-FFF2-40B4-BE49-F238E27FC236}">
                <a16:creationId xmlns:a16="http://schemas.microsoft.com/office/drawing/2014/main" id="{8C8081DB-4079-16E9-BCD5-9FA59BA91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476" y="3143250"/>
            <a:ext cx="2383047" cy="2426179"/>
          </a:xfrm>
          <a:prstGeom prst="rect">
            <a:avLst/>
          </a:prstGeom>
        </p:spPr>
      </p:pic>
      <p:pic>
        <p:nvPicPr>
          <p:cNvPr id="9" name="Picture 8" descr="Octaedro - Wikipedia, a enciclopedia libre">
            <a:extLst>
              <a:ext uri="{FF2B5EF4-FFF2-40B4-BE49-F238E27FC236}">
                <a16:creationId xmlns:a16="http://schemas.microsoft.com/office/drawing/2014/main" id="{6D9AE3B9-1D78-B1F3-56B3-EB5B6706B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834" y="3150079"/>
            <a:ext cx="2398144" cy="241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73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E501-6FE5-1B78-1485-9A74CAD21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2390-596F-E20F-B7FC-A0E7BCC6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Teorema</a:t>
            </a:r>
            <a:r>
              <a:rPr lang="en-US"/>
              <a:t> das </a:t>
            </a:r>
            <a:r>
              <a:rPr lang="en-US" err="1"/>
              <a:t>QUatro</a:t>
            </a:r>
            <a:r>
              <a:rPr lang="en-US"/>
              <a:t> cores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40207-085E-41CC-6168-86D3F920E0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646" y="1709356"/>
            <a:ext cx="6341103" cy="258274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800">
                <a:ea typeface="+mn-lt"/>
                <a:cs typeface="+mn-lt"/>
              </a:rPr>
              <a:t>Seja 𝐺 um </a:t>
            </a:r>
            <a:r>
              <a:rPr lang="en-US" sz="2800" err="1">
                <a:ea typeface="+mn-lt"/>
                <a:cs typeface="+mn-lt"/>
              </a:rPr>
              <a:t>grafo</a:t>
            </a:r>
            <a:r>
              <a:rPr lang="en-US" sz="2800">
                <a:ea typeface="+mn-lt"/>
                <a:cs typeface="+mn-lt"/>
              </a:rPr>
              <a:t> planar </a:t>
            </a:r>
            <a:r>
              <a:rPr lang="en-US" sz="2800" err="1">
                <a:ea typeface="+mn-lt"/>
                <a:cs typeface="+mn-lt"/>
              </a:rPr>
              <a:t>sem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laços</a:t>
            </a:r>
            <a:r>
              <a:rPr lang="en-US" sz="2800">
                <a:ea typeface="+mn-lt"/>
                <a:cs typeface="+mn-lt"/>
              </a:rPr>
              <a:t> e χ(𝐺) </a:t>
            </a:r>
            <a:r>
              <a:rPr lang="en-US" sz="2800" err="1">
                <a:ea typeface="+mn-lt"/>
                <a:cs typeface="+mn-lt"/>
              </a:rPr>
              <a:t>seu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número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cromático</a:t>
            </a:r>
            <a:r>
              <a:rPr lang="en-US" sz="2800">
                <a:ea typeface="+mn-lt"/>
                <a:cs typeface="+mn-lt"/>
              </a:rPr>
              <a:t> para a </a:t>
            </a:r>
            <a:r>
              <a:rPr lang="en-US" sz="2800" err="1">
                <a:ea typeface="+mn-lt"/>
                <a:cs typeface="+mn-lt"/>
              </a:rPr>
              <a:t>coloração</a:t>
            </a:r>
            <a:r>
              <a:rPr lang="en-US" sz="280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arestas</a:t>
            </a:r>
            <a:r>
              <a:rPr lang="en-US" sz="2800">
                <a:ea typeface="+mn-lt"/>
                <a:cs typeface="+mn-lt"/>
              </a:rPr>
              <a:t>: </a:t>
            </a:r>
          </a:p>
          <a:p>
            <a:pPr algn="ctr"/>
            <a:r>
              <a:rPr lang="en-US" sz="2800">
                <a:ea typeface="+mn-lt"/>
                <a:cs typeface="+mn-lt"/>
              </a:rPr>
              <a:t>χ(𝐺) = 4.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8CF40-1112-8731-8A2E-4CAC17D0D8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3" name="Picture 2" descr="Teorema das quatro cores – Wikipédia, a enciclopédia livre">
            <a:extLst>
              <a:ext uri="{FF2B5EF4-FFF2-40B4-BE49-F238E27FC236}">
                <a16:creationId xmlns:a16="http://schemas.microsoft.com/office/drawing/2014/main" id="{94EEBD2E-FA7B-1BC7-854A-A214ACEF6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819" y="2016784"/>
            <a:ext cx="3124739" cy="416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49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9B94E-1FF3-966C-4B6D-93D038BC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06EB-0556-C09C-71E2-DB6DDF49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Planares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27BD9F-9A06-A756-25B3-510141E19A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023" y="1536827"/>
            <a:ext cx="9820425" cy="44805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No que </a:t>
            </a:r>
            <a:r>
              <a:rPr lang="en-US" sz="2400" err="1">
                <a:ea typeface="+mn-lt"/>
                <a:cs typeface="+mn-lt"/>
              </a:rPr>
              <a:t>diz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respeito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coloração</a:t>
            </a:r>
            <a:r>
              <a:rPr lang="en-US" sz="2400">
                <a:ea typeface="+mn-lt"/>
                <a:cs typeface="+mn-lt"/>
              </a:rPr>
              <a:t> total de </a:t>
            </a:r>
            <a:r>
              <a:rPr lang="en-US" sz="2400" err="1">
                <a:ea typeface="+mn-lt"/>
                <a:cs typeface="+mn-lt"/>
              </a:rPr>
              <a:t>grafos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planares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pode</a:t>
            </a:r>
            <a:r>
              <a:rPr lang="en-US" sz="2400">
                <a:ea typeface="+mn-lt"/>
                <a:cs typeface="+mn-lt"/>
              </a:rPr>
              <a:t>-se </a:t>
            </a:r>
            <a:r>
              <a:rPr lang="en-US" sz="2400" err="1">
                <a:ea typeface="+mn-lt"/>
                <a:cs typeface="+mn-lt"/>
              </a:rPr>
              <a:t>encontrar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literatura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respeito</a:t>
            </a:r>
            <a:r>
              <a:rPr lang="en-US" sz="2400">
                <a:ea typeface="+mn-lt"/>
                <a:cs typeface="+mn-lt"/>
              </a:rPr>
              <a:t> do </a:t>
            </a:r>
            <a:r>
              <a:rPr lang="en-US" sz="2400" err="1">
                <a:ea typeface="+mn-lt"/>
                <a:cs typeface="+mn-lt"/>
              </a:rPr>
              <a:t>tema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resultados</a:t>
            </a:r>
            <a:r>
              <a:rPr lang="en-US" sz="2400">
                <a:ea typeface="+mn-lt"/>
                <a:cs typeface="+mn-lt"/>
              </a:rPr>
              <a:t> que </a:t>
            </a:r>
            <a:r>
              <a:rPr lang="en-US" sz="2400" err="1">
                <a:ea typeface="+mn-lt"/>
                <a:cs typeface="+mn-lt"/>
              </a:rPr>
              <a:t>fazem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alusão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diferentes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números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cromáticos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possíveis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depender</a:t>
            </a:r>
            <a:r>
              <a:rPr lang="en-US" sz="2400">
                <a:ea typeface="+mn-lt"/>
                <a:cs typeface="+mn-lt"/>
              </a:rPr>
              <a:t> do </a:t>
            </a:r>
            <a:r>
              <a:rPr lang="en-US" sz="2400" err="1">
                <a:ea typeface="+mn-lt"/>
                <a:cs typeface="+mn-lt"/>
              </a:rPr>
              <a:t>grau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máximo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analisado</a:t>
            </a:r>
            <a:r>
              <a:rPr lang="en-US" sz="2400">
                <a:ea typeface="+mn-lt"/>
                <a:cs typeface="+mn-lt"/>
              </a:rPr>
              <a:t>, de modo que:</a:t>
            </a:r>
            <a:endParaRPr lang="en-US" sz="2400"/>
          </a:p>
          <a:p>
            <a:pPr algn="ctr"/>
            <a:r>
              <a:rPr lang="en-US" sz="2400">
                <a:ea typeface="+mn-lt"/>
                <a:cs typeface="+mn-lt"/>
              </a:rPr>
              <a:t>1. Para </a:t>
            </a:r>
            <a:r>
              <a:rPr lang="en-US" sz="2400" err="1">
                <a:ea typeface="+mn-lt"/>
                <a:cs typeface="+mn-lt"/>
              </a:rPr>
              <a:t>qualquer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grafo</a:t>
            </a:r>
            <a:r>
              <a:rPr lang="en-US" sz="2400">
                <a:ea typeface="+mn-lt"/>
                <a:cs typeface="+mn-lt"/>
              </a:rPr>
              <a:t> planar 𝐺 com Δ(𝐺) ≥ 8 , </a:t>
            </a:r>
            <a:r>
              <a:rPr lang="en-US" sz="2400" err="1">
                <a:ea typeface="+mn-lt"/>
                <a:cs typeface="+mn-lt"/>
              </a:rPr>
              <a:t>χτ</a:t>
            </a:r>
            <a:r>
              <a:rPr lang="en-US" sz="2400">
                <a:ea typeface="+mn-lt"/>
                <a:cs typeface="+mn-lt"/>
              </a:rPr>
              <a:t>(𝐺) ≤ ∆(𝐺) + 2.</a:t>
            </a:r>
          </a:p>
          <a:p>
            <a:pPr algn="ctr"/>
            <a:r>
              <a:rPr lang="en-US" sz="2400">
                <a:ea typeface="+mn-lt"/>
                <a:cs typeface="+mn-lt"/>
              </a:rPr>
              <a:t>2. Para </a:t>
            </a:r>
            <a:r>
              <a:rPr lang="en-US" sz="2400" err="1">
                <a:ea typeface="+mn-lt"/>
                <a:cs typeface="+mn-lt"/>
              </a:rPr>
              <a:t>qualquer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grafo</a:t>
            </a:r>
            <a:r>
              <a:rPr lang="en-US" sz="2400">
                <a:ea typeface="+mn-lt"/>
                <a:cs typeface="+mn-lt"/>
              </a:rPr>
              <a:t> planar 𝐺 com Δ(𝐺) ≥ 14 , </a:t>
            </a:r>
            <a:r>
              <a:rPr lang="en-US" sz="2400" err="1">
                <a:ea typeface="+mn-lt"/>
                <a:cs typeface="+mn-lt"/>
              </a:rPr>
              <a:t>χτ</a:t>
            </a:r>
            <a:r>
              <a:rPr lang="en-US" sz="2400">
                <a:ea typeface="+mn-lt"/>
                <a:cs typeface="+mn-lt"/>
              </a:rPr>
              <a:t>(𝐺) = ∆(𝐺) + 1.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6E231-C874-B3CB-D8E7-0867E0821D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70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7C4E-00F2-6DA9-77E4-A618ED65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A48B-99D3-C03E-A6A5-3A110304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Planares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CF057-7D01-C851-7720-DF3BEB5D006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683" y="1263657"/>
            <a:ext cx="9791670" cy="4480560"/>
          </a:xfrm>
        </p:spPr>
        <p:txBody>
          <a:bodyPr vert="horz" lIns="0" tIns="0" rIns="0" bIns="0" rtlCol="0" anchor="t">
            <a:normAutofit fontScale="92500"/>
          </a:bodyPr>
          <a:lstStyle/>
          <a:p>
            <a:r>
              <a:rPr lang="en-US">
                <a:ea typeface="+mn-lt"/>
                <a:cs typeface="+mn-lt"/>
              </a:rPr>
              <a:t>Nesse </a:t>
            </a:r>
            <a:r>
              <a:rPr lang="en-US" err="1">
                <a:ea typeface="+mn-lt"/>
                <a:cs typeface="+mn-lt"/>
              </a:rPr>
              <a:t>sentido</a:t>
            </a:r>
            <a:r>
              <a:rPr lang="en-US">
                <a:ea typeface="+mn-lt"/>
                <a:cs typeface="+mn-lt"/>
              </a:rPr>
              <a:t>, as </a:t>
            </a:r>
            <a:r>
              <a:rPr lang="en-US" err="1">
                <a:ea typeface="+mn-lt"/>
                <a:cs typeface="+mn-lt"/>
              </a:rPr>
              <a:t>provas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existentes</a:t>
            </a:r>
            <a:r>
              <a:rPr lang="en-US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grafos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planares</a:t>
            </a:r>
            <a:r>
              <a:rPr lang="en-US">
                <a:ea typeface="+mn-lt"/>
                <a:cs typeface="+mn-lt"/>
              </a:rPr>
              <a:t> com Δ(𝐺) ≥ 8 </a:t>
            </a:r>
            <a:r>
              <a:rPr lang="en-US" err="1">
                <a:ea typeface="+mn-lt"/>
                <a:cs typeface="+mn-lt"/>
              </a:rPr>
              <a:t>envolvem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principalmente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aplicação</a:t>
            </a:r>
            <a:r>
              <a:rPr lang="en-US">
                <a:ea typeface="+mn-lt"/>
                <a:cs typeface="+mn-lt"/>
              </a:rPr>
              <a:t> do </a:t>
            </a:r>
            <a:r>
              <a:rPr lang="en-US" err="1">
                <a:ea typeface="+mn-lt"/>
                <a:cs typeface="+mn-lt"/>
              </a:rPr>
              <a:t>Teorema</a:t>
            </a:r>
            <a:r>
              <a:rPr lang="en-US">
                <a:ea typeface="+mn-lt"/>
                <a:cs typeface="+mn-lt"/>
              </a:rPr>
              <a:t> das Quatro Cores e </a:t>
            </a:r>
            <a:r>
              <a:rPr lang="en-US" err="1">
                <a:ea typeface="+mn-lt"/>
                <a:cs typeface="+mn-lt"/>
              </a:rPr>
              <a:t>uma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extensão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suas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conclusões</a:t>
            </a:r>
            <a:r>
              <a:rPr lang="en-US">
                <a:ea typeface="+mn-lt"/>
                <a:cs typeface="+mn-lt"/>
              </a:rPr>
              <a:t> para a </a:t>
            </a:r>
            <a:r>
              <a:rPr lang="en-US" err="1">
                <a:ea typeface="+mn-lt"/>
                <a:cs typeface="+mn-lt"/>
              </a:rPr>
              <a:t>coloração</a:t>
            </a:r>
            <a:r>
              <a:rPr lang="en-US">
                <a:ea typeface="+mn-lt"/>
                <a:cs typeface="+mn-lt"/>
              </a:rPr>
              <a:t> total de </a:t>
            </a:r>
            <a:r>
              <a:rPr lang="en-US" err="1">
                <a:ea typeface="+mn-lt"/>
                <a:cs typeface="+mn-lt"/>
              </a:rPr>
              <a:t>grafos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além</a:t>
            </a:r>
            <a:r>
              <a:rPr lang="en-US">
                <a:ea typeface="+mn-lt"/>
                <a:cs typeface="+mn-lt"/>
              </a:rPr>
              <a:t> de um </a:t>
            </a:r>
            <a:r>
              <a:rPr lang="en-US" err="1">
                <a:ea typeface="+mn-lt"/>
                <a:cs typeface="+mn-lt"/>
              </a:rPr>
              <a:t>teorema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Vizing</a:t>
            </a:r>
            <a:r>
              <a:rPr lang="en-US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grafos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planares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Dado um </a:t>
            </a:r>
            <a:r>
              <a:rPr lang="en-US" err="1">
                <a:ea typeface="+mn-lt"/>
                <a:cs typeface="+mn-lt"/>
              </a:rPr>
              <a:t>grafo</a:t>
            </a:r>
            <a:r>
              <a:rPr lang="en-US">
                <a:ea typeface="+mn-lt"/>
                <a:cs typeface="+mn-lt"/>
              </a:rPr>
              <a:t> planar 𝐺, </a:t>
            </a:r>
            <a:r>
              <a:rPr lang="en-US" err="1">
                <a:ea typeface="+mn-lt"/>
                <a:cs typeface="+mn-lt"/>
              </a:rPr>
              <a:t>pelo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Teorema</a:t>
            </a:r>
            <a:r>
              <a:rPr lang="en-US">
                <a:ea typeface="+mn-lt"/>
                <a:cs typeface="+mn-lt"/>
              </a:rPr>
              <a:t> das Quatro cores, </a:t>
            </a:r>
            <a:r>
              <a:rPr lang="en-US" sz="2100">
                <a:ea typeface="+mn-lt"/>
                <a:cs typeface="+mn-lt"/>
              </a:rPr>
              <a:t>χ</a:t>
            </a:r>
            <a:r>
              <a:rPr lang="en-US">
                <a:ea typeface="+mn-lt"/>
                <a:cs typeface="+mn-lt"/>
              </a:rPr>
              <a:t>(𝐺) ≤ 4. </a:t>
            </a:r>
            <a:r>
              <a:rPr lang="en-US" err="1">
                <a:ea typeface="+mn-lt"/>
                <a:cs typeface="+mn-lt"/>
              </a:rPr>
              <a:t>Porém</a:t>
            </a:r>
            <a:r>
              <a:rPr lang="en-US">
                <a:ea typeface="+mn-lt"/>
                <a:cs typeface="+mn-lt"/>
              </a:rPr>
              <a:t>, um </a:t>
            </a:r>
            <a:r>
              <a:rPr lang="en-US" err="1">
                <a:ea typeface="+mn-lt"/>
                <a:cs typeface="+mn-lt"/>
              </a:rPr>
              <a:t>lema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existente</a:t>
            </a:r>
            <a:r>
              <a:rPr lang="en-US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coloração</a:t>
            </a:r>
            <a:r>
              <a:rPr lang="en-US">
                <a:ea typeface="+mn-lt"/>
                <a:cs typeface="+mn-lt"/>
              </a:rPr>
              <a:t> total de </a:t>
            </a:r>
            <a:r>
              <a:rPr lang="en-US" err="1">
                <a:ea typeface="+mn-lt"/>
                <a:cs typeface="+mn-lt"/>
              </a:rPr>
              <a:t>grafos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estabelece</a:t>
            </a:r>
            <a:r>
              <a:rPr lang="en-US">
                <a:ea typeface="+mn-lt"/>
                <a:cs typeface="+mn-lt"/>
              </a:rPr>
              <a:t> que, para um </a:t>
            </a:r>
            <a:r>
              <a:rPr lang="en-US" err="1">
                <a:ea typeface="+mn-lt"/>
                <a:cs typeface="+mn-lt"/>
              </a:rPr>
              <a:t>grafo</a:t>
            </a:r>
            <a:r>
              <a:rPr lang="en-US">
                <a:ea typeface="+mn-lt"/>
                <a:cs typeface="+mn-lt"/>
              </a:rPr>
              <a:t> 𝐺 com </a:t>
            </a:r>
            <a:r>
              <a:rPr lang="en-US" sz="2100">
                <a:ea typeface="+mn-lt"/>
                <a:cs typeface="+mn-lt"/>
              </a:rPr>
              <a:t>χ</a:t>
            </a:r>
            <a:r>
              <a:rPr lang="en-US">
                <a:ea typeface="+mn-lt"/>
                <a:cs typeface="+mn-lt"/>
              </a:rPr>
              <a:t>(𝐺) ≤ 4:</a:t>
            </a:r>
          </a:p>
          <a:p>
            <a:pPr algn="ctr"/>
            <a:r>
              <a:rPr lang="en-US" sz="2100">
                <a:ea typeface="+mn-lt"/>
                <a:cs typeface="+mn-lt"/>
              </a:rPr>
              <a:t>χ"(𝐺) ≤ χ’(𝐺) + 2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Além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disso</a:t>
            </a:r>
            <a:r>
              <a:rPr lang="en-US">
                <a:ea typeface="+mn-lt"/>
                <a:cs typeface="+mn-lt"/>
              </a:rPr>
              <a:t>, a </a:t>
            </a:r>
            <a:r>
              <a:rPr lang="en-US" err="1">
                <a:ea typeface="+mn-lt"/>
                <a:cs typeface="+mn-lt"/>
              </a:rPr>
              <a:t>extensão</a:t>
            </a:r>
            <a:r>
              <a:rPr lang="en-US">
                <a:ea typeface="+mn-lt"/>
                <a:cs typeface="+mn-lt"/>
              </a:rPr>
              <a:t> do </a:t>
            </a:r>
            <a:r>
              <a:rPr lang="en-US" err="1">
                <a:ea typeface="+mn-lt"/>
                <a:cs typeface="+mn-lt"/>
              </a:rPr>
              <a:t>Teorema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Vizing</a:t>
            </a:r>
            <a:r>
              <a:rPr lang="en-US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grafos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planares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estabelece</a:t>
            </a:r>
            <a:r>
              <a:rPr lang="en-US">
                <a:ea typeface="+mn-lt"/>
                <a:cs typeface="+mn-lt"/>
              </a:rPr>
              <a:t> que, para um </a:t>
            </a:r>
            <a:r>
              <a:rPr lang="en-US" err="1">
                <a:ea typeface="+mn-lt"/>
                <a:cs typeface="+mn-lt"/>
              </a:rPr>
              <a:t>grafo</a:t>
            </a:r>
            <a:r>
              <a:rPr lang="en-US">
                <a:ea typeface="+mn-lt"/>
                <a:cs typeface="+mn-lt"/>
              </a:rPr>
              <a:t> 𝐺 com Δ(𝐺) ≥ 8:</a:t>
            </a:r>
          </a:p>
          <a:p>
            <a:pPr algn="ctr"/>
            <a:r>
              <a:rPr lang="en-US">
                <a:ea typeface="+mn-lt"/>
                <a:cs typeface="+mn-lt"/>
              </a:rPr>
              <a:t> </a:t>
            </a:r>
            <a:r>
              <a:rPr lang="en-US" sz="2100">
                <a:ea typeface="+mn-lt"/>
                <a:cs typeface="+mn-lt"/>
              </a:rPr>
              <a:t>χ</a:t>
            </a:r>
            <a:r>
              <a:rPr lang="en-US">
                <a:ea typeface="+mn-lt"/>
                <a:cs typeface="+mn-lt"/>
              </a:rPr>
              <a:t>'(𝐺) = Δ(𝐺).</a:t>
            </a:r>
            <a:endParaRPr lang="en-US"/>
          </a:p>
          <a:p>
            <a:r>
              <a:rPr lang="en-US" err="1"/>
              <a:t>Portanto</a:t>
            </a:r>
            <a:r>
              <a:rPr lang="en-US"/>
              <a:t>,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planares</a:t>
            </a:r>
            <a:r>
              <a:rPr lang="en-US"/>
              <a:t> com </a:t>
            </a:r>
            <a:r>
              <a:rPr lang="en-US" sz="2100"/>
              <a:t>Δ(𝐺) ≥ 8 </a:t>
            </a:r>
            <a:r>
              <a:rPr lang="en-US" sz="2100" err="1"/>
              <a:t>atendem</a:t>
            </a:r>
            <a:r>
              <a:rPr lang="en-US" sz="2100"/>
              <a:t> à TCC.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99AC1-DDD6-08F1-FA77-0E7DEE8235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46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A97B-60D1-F3EA-AA1D-A94D03CD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DA968084-5FA7-6678-4676-1C3BE5D4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80" y="2183575"/>
            <a:ext cx="6185312" cy="3867765"/>
          </a:xfrm>
        </p:spPr>
        <p:txBody>
          <a:bodyPr/>
          <a:lstStyle/>
          <a:p>
            <a:r>
              <a:rPr lang="en-US" err="1"/>
              <a:t>Grafos</a:t>
            </a:r>
            <a:r>
              <a:rPr lang="en-US"/>
              <a:t>               r-</a:t>
            </a:r>
            <a:r>
              <a:rPr lang="en-US" err="1"/>
              <a:t>partidos</a:t>
            </a:r>
            <a:br>
              <a:rPr lang="en-US"/>
            </a:b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612A912F-817B-DD04-3F41-C22D1F635F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B4E0C00D-E022-3CA0-12A0-7BD3044598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8FC09F1-8E50-9D34-C613-A54F25B92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194669A-DDE5-AE8B-D183-A74227E787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oup of red and blue dots&#10;&#10;AI-generated content may be incorrect.">
            <a:extLst>
              <a:ext uri="{FF2B5EF4-FFF2-40B4-BE49-F238E27FC236}">
                <a16:creationId xmlns:a16="http://schemas.microsoft.com/office/drawing/2014/main" id="{11F63731-7788-316E-3A84-E61796C78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2728" y="2013755"/>
            <a:ext cx="5687784" cy="283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99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4D31-73FF-CAF9-5938-846FA88B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2493-2285-F25A-9065-733D211A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r-</a:t>
            </a:r>
            <a:r>
              <a:rPr lang="en-US" err="1"/>
              <a:t>partidos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4CAA9-7789-472D-F439-2B60A1DDBD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1343" y="1738110"/>
            <a:ext cx="9446614" cy="44805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t-BR" sz="2400"/>
              <a:t>Esse grupo se refere a grafos de conjuntos independentes.</a:t>
            </a:r>
            <a:r>
              <a:rPr lang="en-US" cap="all">
                <a:latin typeface="system-ui"/>
              </a:rPr>
              <a:t> </a:t>
            </a:r>
          </a:p>
          <a:p>
            <a:pPr marL="342900" indent="-342900">
              <a:buChar char="•"/>
            </a:pPr>
            <a:r>
              <a:rPr lang="pt-BR" sz="2400"/>
              <a:t>Desse modo, respeitam as seguintes condições:</a:t>
            </a:r>
            <a:r>
              <a:rPr lang="en-US" sz="2400">
                <a:ea typeface="+mn-lt"/>
                <a:cs typeface="+mn-lt"/>
              </a:rPr>
              <a:t> </a:t>
            </a:r>
          </a:p>
          <a:p>
            <a:pPr marL="342900" indent="-342900">
              <a:buChar char="•"/>
            </a:pPr>
            <a:r>
              <a:rPr lang="pt-BR" sz="2400"/>
              <a:t>Os </a:t>
            </a:r>
            <a:r>
              <a:rPr lang="pt-BR" sz="2400" err="1"/>
              <a:t>subgrafos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pt-BR" sz="2400"/>
              <a:t>devem ser partições do original;</a:t>
            </a:r>
            <a:r>
              <a:rPr lang="en-US" sz="2400">
                <a:ea typeface="+mn-lt"/>
                <a:cs typeface="+mn-lt"/>
              </a:rPr>
              <a:t> </a:t>
            </a:r>
          </a:p>
          <a:p>
            <a:pPr marL="342900" indent="-342900">
              <a:buChar char="•"/>
            </a:pPr>
            <a:r>
              <a:rPr lang="pt-BR" sz="2400"/>
              <a:t>As partições não devem se sobrepor entre si;</a:t>
            </a:r>
            <a:r>
              <a:rPr lang="en-US" sz="2400">
                <a:ea typeface="+mn-lt"/>
                <a:cs typeface="+mn-lt"/>
              </a:rPr>
              <a:t> </a:t>
            </a:r>
          </a:p>
          <a:p>
            <a:r>
              <a:rPr lang="en-US" sz="2400">
                <a:ea typeface="+mn-lt"/>
                <a:cs typeface="+mn-lt"/>
              </a:rPr>
              <a:t> </a:t>
            </a:r>
            <a:r>
              <a:rPr lang="pt-BR" sz="2400"/>
              <a:t>Além disso os grafos que dentro do conjunto não se conectam podem ser considerados completos quando um </a:t>
            </a:r>
            <a:r>
              <a:rPr lang="pt-BR" sz="2400" err="1"/>
              <a:t>vertice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pt-BR" sz="2400"/>
              <a:t>se conecta a todos os outros não pertencentes do seu grupo.</a:t>
            </a:r>
            <a:r>
              <a:rPr lang="en-US" sz="2400">
                <a:ea typeface="+mn-lt"/>
                <a:cs typeface="+mn-lt"/>
              </a:rPr>
              <a:t>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73532-DD9C-FA2D-CBE7-1BB3A3AF3C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3" name="Picture 2" descr="A black background with green and blue circles&#10;&#10;AI-generated content may be incorrect.">
            <a:extLst>
              <a:ext uri="{FF2B5EF4-FFF2-40B4-BE49-F238E27FC236}">
                <a16:creationId xmlns:a16="http://schemas.microsoft.com/office/drawing/2014/main" id="{C1E77029-34BD-57A4-EAEF-54DC5E9E3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868" y="1391279"/>
            <a:ext cx="27717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85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D7EB-1284-5A36-166D-6D782521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22F4-CF8E-B0F4-D76F-82A23D69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Coloração</a:t>
            </a:r>
            <a:r>
              <a:rPr lang="en-US"/>
              <a:t> Total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Bipartidos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A291A6-EEBA-0AF0-1B2B-2E81743652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7041" y="1709356"/>
            <a:ext cx="5090276" cy="450931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t-BR" sz="2400"/>
              <a:t>O termo bipartido se refere a um tipo especifico de grafo que k-partido que possui apenas dois conjuntos.</a:t>
            </a:r>
            <a:r>
              <a:rPr lang="en-US" sz="2400"/>
              <a:t> </a:t>
            </a:r>
            <a:endParaRPr lang="en-US"/>
          </a:p>
          <a:p>
            <a:r>
              <a:rPr lang="pt-BR" sz="2400"/>
              <a:t>Esses se destacam por motivos como: terem suas representações como árvores ou ciclos pares e terem o número</a:t>
            </a:r>
            <a:r>
              <a:rPr lang="en-US" sz="2400"/>
              <a:t> </a:t>
            </a:r>
            <a:r>
              <a:rPr lang="pt-BR" sz="2400"/>
              <a:t>da coloração fixo em 3, um para</a:t>
            </a:r>
            <a:r>
              <a:rPr lang="en-US" sz="2400"/>
              <a:t> </a:t>
            </a:r>
            <a:r>
              <a:rPr lang="pt-BR" sz="2400"/>
              <a:t>cada conjunto e um para as arestas.</a:t>
            </a:r>
            <a:r>
              <a:rPr lang="en-US" sz="2400"/>
              <a:t> </a:t>
            </a:r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85E66-C613-A9E7-5082-5A321C9A3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1EFD2AE-4B27-AA30-521C-B8C9EC8815A8}"/>
              </a:ext>
            </a:extLst>
          </p:cNvPr>
          <p:cNvSpPr txBox="1">
            <a:spLocks/>
          </p:cNvSpPr>
          <p:nvPr/>
        </p:nvSpPr>
        <p:spPr>
          <a:xfrm>
            <a:off x="6324081" y="1617342"/>
            <a:ext cx="4587068" cy="4681842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Uma das aplicações</a:t>
            </a:r>
            <a:r>
              <a:rPr lang="en-US" sz="2400"/>
              <a:t> </a:t>
            </a:r>
            <a:r>
              <a:rPr lang="pt-BR" sz="2400"/>
              <a:t>matemáticas</a:t>
            </a:r>
            <a:r>
              <a:rPr lang="en-US" sz="2400"/>
              <a:t> </a:t>
            </a:r>
            <a:r>
              <a:rPr lang="pt-BR" sz="2400"/>
              <a:t>que se sobressai nesse modelo de grafo é a Soma dos produtos dos tamanhos das partições duas a duas em grafos bipartidos completos:</a:t>
            </a:r>
            <a:r>
              <a:rPr lang="en-US" sz="2400"/>
              <a:t>  </a:t>
            </a:r>
          </a:p>
          <a:p>
            <a:endParaRPr lang="pt-BR" sz="2400">
              <a:cs typeface="Arial"/>
            </a:endParaRPr>
          </a:p>
          <a:p>
            <a:br>
              <a:rPr lang="en-US"/>
            </a:br>
            <a:endParaRPr lang="en-US"/>
          </a:p>
          <a:p>
            <a:r>
              <a:rPr lang="en-US" sz="2400" err="1"/>
              <a:t>permitindo</a:t>
            </a:r>
            <a:r>
              <a:rPr lang="en-US" sz="2400"/>
              <a:t> a </a:t>
            </a:r>
            <a:r>
              <a:rPr lang="en-US" sz="2400" err="1"/>
              <a:t>maximização</a:t>
            </a:r>
            <a:r>
              <a:rPr lang="en-US" sz="2400"/>
              <a:t>/</a:t>
            </a:r>
            <a:r>
              <a:rPr lang="en-US" sz="2400" err="1"/>
              <a:t>minmização</a:t>
            </a:r>
            <a:r>
              <a:rPr lang="en-US" sz="2400"/>
              <a:t> de </a:t>
            </a:r>
            <a:r>
              <a:rPr lang="en-US" sz="2400" err="1"/>
              <a:t>problas</a:t>
            </a:r>
            <a:r>
              <a:rPr lang="en-US" sz="2400"/>
              <a:t>, </a:t>
            </a:r>
            <a:r>
              <a:rPr lang="en-US" sz="2400" err="1"/>
              <a:t>assim</a:t>
            </a:r>
            <a:r>
              <a:rPr lang="en-US" sz="2400"/>
              <a:t> </a:t>
            </a:r>
            <a:r>
              <a:rPr lang="en-US" sz="2400" err="1"/>
              <a:t>como</a:t>
            </a:r>
            <a:r>
              <a:rPr lang="en-US" sz="2400"/>
              <a:t> </a:t>
            </a:r>
            <a:r>
              <a:rPr lang="en-US" sz="2400" err="1"/>
              <a:t>analisar</a:t>
            </a:r>
            <a:r>
              <a:rPr lang="en-US" sz="2400"/>
              <a:t> o </a:t>
            </a:r>
            <a:r>
              <a:rPr lang="en-US" sz="2400" err="1"/>
              <a:t>balnceamento</a:t>
            </a:r>
            <a:r>
              <a:rPr lang="en-US" sz="2400"/>
              <a:t> entre as </a:t>
            </a:r>
            <a:r>
              <a:rPr lang="en-US" sz="2400" err="1"/>
              <a:t>partições</a:t>
            </a:r>
            <a:r>
              <a:rPr lang="en-US" sz="2400"/>
              <a:t>. </a:t>
            </a:r>
            <a:endParaRPr lang="en-US"/>
          </a:p>
          <a:p>
            <a:br>
              <a:rPr lang="en-US"/>
            </a:br>
            <a:endParaRPr lang="en-US"/>
          </a:p>
          <a:p>
            <a:endParaRPr lang="en-US" sz="2400"/>
          </a:p>
          <a:p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B5223-399B-80DB-F4D0-E5C42D76CC20}"/>
              </a:ext>
            </a:extLst>
          </p:cNvPr>
          <p:cNvSpPr/>
          <p:nvPr/>
        </p:nvSpPr>
        <p:spPr>
          <a:xfrm>
            <a:off x="5825706" y="1505310"/>
            <a:ext cx="109268" cy="40630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symbol&#10;&#10;AI-generated content may be incorrect.">
            <a:extLst>
              <a:ext uri="{FF2B5EF4-FFF2-40B4-BE49-F238E27FC236}">
                <a16:creationId xmlns:a16="http://schemas.microsoft.com/office/drawing/2014/main" id="{662E226B-2E89-0894-9C97-66867922D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044" y="3187730"/>
            <a:ext cx="26479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39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C6F6-17E3-A3D0-7BCD-0E829BB6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AF144281-71B2-8950-F149-E038E400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05" y="2212330"/>
            <a:ext cx="6185312" cy="3867765"/>
          </a:xfrm>
        </p:spPr>
        <p:txBody>
          <a:bodyPr/>
          <a:lstStyle/>
          <a:p>
            <a:r>
              <a:rPr lang="en-US"/>
              <a:t>Casos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Comprovaos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7C66788-FFA3-1A17-D02C-FD5BCD0712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168BDA2-3BAB-FF72-EB21-43B27E1F72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3BAB4C60-B402-C074-17D8-14490C5BB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449019B9-F9C1-1EC1-9F35-A7F03F4AB7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Graphic 3" descr="Connectivity (graph theory) - Wikipedia">
            <a:extLst>
              <a:ext uri="{FF2B5EF4-FFF2-40B4-BE49-F238E27FC236}">
                <a16:creationId xmlns:a16="http://schemas.microsoft.com/office/drawing/2014/main" id="{76D5CB44-C8F6-98D2-1630-C869989C2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3686" y="1432514"/>
            <a:ext cx="3790949" cy="39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22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28BA-59F7-7247-7A81-31158AC9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3661-09B9-75ED-FB91-D065812B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/>
              <a:t>Casos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comprovados</a:t>
            </a:r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D6F0F-3A16-9724-FE83-C424FD01EF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684" y="1393053"/>
            <a:ext cx="9274085" cy="44805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400" err="1"/>
              <a:t>Os</a:t>
            </a:r>
            <a:r>
              <a:rPr lang="en-US" sz="2400"/>
              <a:t> </a:t>
            </a:r>
            <a:r>
              <a:rPr lang="en-US" sz="2400" err="1"/>
              <a:t>problemas</a:t>
            </a:r>
            <a:r>
              <a:rPr lang="en-US" sz="2400"/>
              <a:t> </a:t>
            </a:r>
            <a:r>
              <a:rPr lang="en-US" sz="2400" err="1"/>
              <a:t>envolvendo</a:t>
            </a:r>
            <a:r>
              <a:rPr lang="en-US" sz="2400"/>
              <a:t> a TCC </a:t>
            </a:r>
            <a:r>
              <a:rPr lang="en-US" sz="2400" err="1"/>
              <a:t>ainda</a:t>
            </a:r>
            <a:r>
              <a:rPr lang="en-US" sz="2400"/>
              <a:t> </a:t>
            </a:r>
            <a:r>
              <a:rPr lang="en-US" sz="2400" err="1"/>
              <a:t>não</a:t>
            </a:r>
            <a:r>
              <a:rPr lang="en-US" sz="2400"/>
              <a:t> </a:t>
            </a:r>
            <a:r>
              <a:rPr lang="en-US" sz="2400" err="1"/>
              <a:t>foram</a:t>
            </a:r>
            <a:r>
              <a:rPr lang="en-US" sz="2400"/>
              <a:t> </a:t>
            </a:r>
            <a:r>
              <a:rPr lang="en-US" sz="2400" err="1"/>
              <a:t>resolvidos</a:t>
            </a:r>
            <a:r>
              <a:rPr lang="en-US" sz="2400"/>
              <a:t> para </a:t>
            </a:r>
            <a:r>
              <a:rPr lang="en-US" sz="2400" err="1"/>
              <a:t>todas</a:t>
            </a:r>
            <a:r>
              <a:rPr lang="en-US" sz="2400"/>
              <a:t> as classes, </a:t>
            </a:r>
            <a:r>
              <a:rPr lang="en-US" sz="2400" err="1"/>
              <a:t>devido</a:t>
            </a:r>
            <a:r>
              <a:rPr lang="en-US" sz="2400"/>
              <a:t> a </a:t>
            </a:r>
            <a:r>
              <a:rPr lang="en-US" sz="2400" err="1"/>
              <a:t>sua</a:t>
            </a:r>
            <a:r>
              <a:rPr lang="en-US" sz="2400"/>
              <a:t> </a:t>
            </a:r>
            <a:r>
              <a:rPr lang="en-US" sz="2400" err="1"/>
              <a:t>complexidade</a:t>
            </a:r>
            <a:r>
              <a:rPr lang="en-US" sz="2400"/>
              <a:t> </a:t>
            </a:r>
            <a:r>
              <a:rPr lang="en-US" sz="2400" err="1"/>
              <a:t>ou</a:t>
            </a:r>
            <a:r>
              <a:rPr lang="en-US" sz="2400"/>
              <a:t> </a:t>
            </a:r>
            <a:r>
              <a:rPr lang="en-US" sz="2400" err="1"/>
              <a:t>natureza</a:t>
            </a:r>
            <a:r>
              <a:rPr lang="en-US" sz="2400"/>
              <a:t> NP </a:t>
            </a:r>
            <a:r>
              <a:rPr lang="en-US" sz="2400" err="1"/>
              <a:t>difícil</a:t>
            </a:r>
            <a:r>
              <a:rPr lang="en-US" sz="2400"/>
              <a:t>. </a:t>
            </a:r>
            <a:r>
              <a:rPr lang="en-US" sz="2400" err="1"/>
              <a:t>Alguns</a:t>
            </a:r>
            <a:r>
              <a:rPr lang="en-US" sz="2400"/>
              <a:t> </a:t>
            </a:r>
            <a:r>
              <a:rPr lang="en-US" sz="2400" err="1"/>
              <a:t>casos</a:t>
            </a:r>
            <a:r>
              <a:rPr lang="en-US" sz="2400"/>
              <a:t> </a:t>
            </a:r>
            <a:r>
              <a:rPr lang="en-US" sz="2400" err="1"/>
              <a:t>em</a:t>
            </a:r>
            <a:r>
              <a:rPr lang="en-US" sz="2400"/>
              <a:t> </a:t>
            </a:r>
            <a:r>
              <a:rPr lang="en-US" sz="2400" err="1"/>
              <a:t>aberto</a:t>
            </a:r>
            <a:r>
              <a:rPr lang="en-US" sz="2400"/>
              <a:t> </a:t>
            </a:r>
            <a:r>
              <a:rPr lang="en-US" sz="2400" err="1"/>
              <a:t>são</a:t>
            </a:r>
            <a:r>
              <a:rPr lang="en-US" sz="2400"/>
              <a:t>:</a:t>
            </a:r>
          </a:p>
          <a:p>
            <a:pPr marL="342900" indent="-342900">
              <a:buChar char="•"/>
            </a:pPr>
            <a:r>
              <a:rPr lang="en-US" sz="2400" err="1"/>
              <a:t>Grafos</a:t>
            </a:r>
            <a:r>
              <a:rPr lang="en-US" sz="2400"/>
              <a:t> </a:t>
            </a:r>
            <a:r>
              <a:rPr lang="en-US" sz="2400" err="1"/>
              <a:t>planares</a:t>
            </a:r>
            <a:r>
              <a:rPr lang="en-US" sz="2400"/>
              <a:t> com Δ(G) = 6</a:t>
            </a:r>
          </a:p>
          <a:p>
            <a:pPr marL="342900" indent="-342900">
              <a:buChar char="•"/>
            </a:pPr>
            <a:r>
              <a:rPr lang="en-US" sz="2400" err="1"/>
              <a:t>Grafos</a:t>
            </a:r>
            <a:r>
              <a:rPr lang="en-US" sz="2400"/>
              <a:t> </a:t>
            </a:r>
            <a:r>
              <a:rPr lang="en-US" sz="2400" err="1"/>
              <a:t>densos</a:t>
            </a:r>
            <a:r>
              <a:rPr lang="en-US" sz="2400"/>
              <a:t> e </a:t>
            </a:r>
            <a:r>
              <a:rPr lang="en-US" sz="2400" err="1"/>
              <a:t>complexos</a:t>
            </a:r>
            <a:endParaRPr lang="en-US" sz="2400"/>
          </a:p>
          <a:p>
            <a:pPr marL="342900" indent="-342900">
              <a:buChar char="•"/>
            </a:pPr>
            <a:r>
              <a:rPr lang="en-US" sz="2400" err="1"/>
              <a:t>Grafos</a:t>
            </a:r>
            <a:r>
              <a:rPr lang="en-US" sz="2400"/>
              <a:t> com </a:t>
            </a:r>
            <a:r>
              <a:rPr lang="en-US" sz="2400" err="1"/>
              <a:t>alta</a:t>
            </a:r>
            <a:r>
              <a:rPr lang="en-US" sz="2400"/>
              <a:t> </a:t>
            </a:r>
            <a:r>
              <a:rPr lang="en-US" sz="2400" err="1"/>
              <a:t>conectividade</a:t>
            </a:r>
            <a:endParaRPr lang="en-US" sz="2400"/>
          </a:p>
          <a:p>
            <a:pPr marL="342900" indent="-342900">
              <a:buChar char="•"/>
            </a:pPr>
            <a:r>
              <a:rPr lang="en-US" sz="2400" err="1"/>
              <a:t>Grafos</a:t>
            </a:r>
            <a:r>
              <a:rPr lang="en-US" sz="2400"/>
              <a:t> </a:t>
            </a:r>
            <a:r>
              <a:rPr lang="en-US" sz="2400" err="1"/>
              <a:t>aleatórios</a:t>
            </a:r>
            <a:r>
              <a:rPr lang="en-US" sz="2400"/>
              <a:t> </a:t>
            </a:r>
            <a:r>
              <a:rPr lang="en-US" sz="2400" err="1"/>
              <a:t>ou</a:t>
            </a:r>
            <a:r>
              <a:rPr lang="en-US" sz="2400"/>
              <a:t> com </a:t>
            </a:r>
            <a:r>
              <a:rPr lang="en-US" sz="2400" err="1"/>
              <a:t>propriedades</a:t>
            </a:r>
            <a:r>
              <a:rPr lang="en-US" sz="2400"/>
              <a:t> </a:t>
            </a:r>
            <a:r>
              <a:rPr lang="en-US" sz="2400" err="1"/>
              <a:t>combinatórias</a:t>
            </a:r>
            <a:r>
              <a:rPr lang="en-US" sz="2400"/>
              <a:t> </a:t>
            </a:r>
            <a:r>
              <a:rPr lang="en-US" sz="2400" err="1"/>
              <a:t>incomuns</a:t>
            </a:r>
            <a:endParaRPr lang="en-US" sz="2400"/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37AF9-EEC6-A53F-7C4B-404D026128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79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86CD-E81D-503A-7791-D2938573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0D7BAA-F0B0-FCE2-E19F-26701DA1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sz="1300" err="1"/>
              <a:t>Seção</a:t>
            </a:r>
            <a:r>
              <a:rPr lang="en-US" sz="1300"/>
              <a:t> 3</a:t>
            </a:r>
            <a:br>
              <a:rPr lang="en-US" sz="1300"/>
            </a:br>
            <a:br>
              <a:rPr lang="en-US" sz="1300"/>
            </a:br>
            <a:endParaRPr lang="en-US" sz="13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1F41E-3EC9-565B-D98D-13686D728F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2351" y="2816290"/>
            <a:ext cx="5579873" cy="1946807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7900" err="1"/>
              <a:t>Aplicações</a:t>
            </a:r>
            <a:endParaRPr lang="en-US" sz="7900"/>
          </a:p>
          <a:p>
            <a:pPr algn="ctr">
              <a:lnSpc>
                <a:spcPct val="120000"/>
              </a:lnSpc>
            </a:pP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0BD3BA-81C2-959D-DE06-13C594AD3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4946" y="1266452"/>
            <a:ext cx="4890407" cy="48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8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/>
          <a:lstStyle/>
          <a:p>
            <a:r>
              <a:rPr lang="en-US" err="1"/>
              <a:t>Planejamento</a:t>
            </a:r>
            <a:r>
              <a:rPr lang="en-US"/>
              <a:t> de um </a:t>
            </a:r>
            <a:r>
              <a:rPr lang="en-US" err="1"/>
              <a:t>Torneio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278035"/>
            <a:ext cx="6570624" cy="4307397"/>
          </a:xfrm>
        </p:spPr>
        <p:txBody>
          <a:bodyPr vert="horz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pt-BR"/>
              <a:t>Imagine um torneio de futebol com n times, onde cada time deve jogar contra todos os outros times exatamente uma vez. Além disso, cada time tem um uniforme e não pode haver conflitos de cores entre times que jogam no mesmo horário.</a:t>
            </a:r>
            <a:r>
              <a:rPr lang="en-US" dirty="0"/>
              <a:t> </a:t>
            </a:r>
          </a:p>
          <a:p>
            <a:pPr marL="347345" indent="-347345"/>
            <a:r>
              <a:rPr lang="pt-BR" dirty="0"/>
              <a:t>Vértices: Representam os times.</a:t>
            </a:r>
            <a:r>
              <a:rPr lang="en-US" dirty="0"/>
              <a:t> </a:t>
            </a:r>
          </a:p>
          <a:p>
            <a:pPr marL="347345" indent="-347345"/>
            <a:r>
              <a:rPr lang="pt-BR" dirty="0"/>
              <a:t>Arestas: Representam os jogos entre os times.</a:t>
            </a:r>
            <a:r>
              <a:rPr lang="en-US" dirty="0"/>
              <a:t> </a:t>
            </a:r>
          </a:p>
          <a:p>
            <a:pPr marL="347345" indent="-347345"/>
            <a:r>
              <a:rPr lang="pt-BR"/>
              <a:t>Cores dos vértices: Representam as cores dos uniformes dos times.</a:t>
            </a:r>
            <a:r>
              <a:rPr lang="en-US" dirty="0"/>
              <a:t> </a:t>
            </a:r>
          </a:p>
          <a:p>
            <a:pPr marL="347345" indent="-347345"/>
            <a:r>
              <a:rPr lang="pt-BR" dirty="0"/>
              <a:t>Cores das arestas: Representam os horários dos jogos. </a:t>
            </a:r>
            <a:br>
              <a:rPr lang="pt-BR" dirty="0"/>
            </a:br>
            <a:r>
              <a:rPr lang="pt-BR" dirty="0"/>
              <a:t>  </a:t>
            </a:r>
            <a:endParaRPr lang="en-US" dirty="0"/>
          </a:p>
          <a:p>
            <a:pPr marL="0" indent="0">
              <a:buNone/>
            </a:pPr>
            <a:r>
              <a:rPr lang="pt-BR" dirty="0"/>
              <a:t>A coloração total de grafos representa o torneio de forma eficiente.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pt-BR"/>
              <a:t>Podemos observar que todos os times jogam entre si e nenhum time com uniformes iguais jogam no mesmo horário.</a:t>
            </a:r>
            <a:endParaRPr lang="en-US"/>
          </a:p>
          <a:p>
            <a:pPr marL="347345" indent="-347345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11" name="Picture 10" descr="Esquema de jogo de futebol Tática de giz de futebol estratégia de equipe de defesa Plano de jogo esportivo treinamento de treinador estratégico desenhando fundo vetorial decente">
            <a:extLst>
              <a:ext uri="{FF2B5EF4-FFF2-40B4-BE49-F238E27FC236}">
                <a16:creationId xmlns:a16="http://schemas.microsoft.com/office/drawing/2014/main" id="{ADC8B997-C608-66D6-B010-B605D1344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09702" y="1410240"/>
            <a:ext cx="5286914" cy="382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5F505-1146-485E-7A9C-9F9CFED2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BAFA-1E8D-BD9E-24B8-266F4BEA5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/>
          <a:lstStyle/>
          <a:p>
            <a:r>
              <a:rPr lang="en-US" err="1"/>
              <a:t>Cartografia</a:t>
            </a:r>
            <a:br>
              <a:rPr lang="en-US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E64FE1-121F-3B25-E3FC-4687A082B0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393053"/>
            <a:ext cx="6556247" cy="4479925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347345" indent="-347345"/>
            <a:r>
              <a:rPr lang="en-US"/>
              <a:t>A </a:t>
            </a:r>
            <a:r>
              <a:rPr lang="en-US" err="1">
                <a:ea typeface="+mn-lt"/>
                <a:cs typeface="+mn-lt"/>
              </a:rPr>
              <a:t>coloração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mapas</a:t>
            </a:r>
            <a:r>
              <a:rPr lang="en-US">
                <a:ea typeface="+mn-lt"/>
                <a:cs typeface="+mn-lt"/>
              </a:rPr>
              <a:t> é um </a:t>
            </a:r>
            <a:r>
              <a:rPr lang="en-US" err="1">
                <a:ea typeface="+mn-lt"/>
                <a:cs typeface="+mn-lt"/>
              </a:rPr>
              <a:t>problema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clássico</a:t>
            </a:r>
            <a:r>
              <a:rPr lang="en-US">
                <a:ea typeface="+mn-lt"/>
                <a:cs typeface="+mn-lt"/>
              </a:rPr>
              <a:t> da </a:t>
            </a:r>
            <a:r>
              <a:rPr lang="en-US" err="1">
                <a:ea typeface="+mn-lt"/>
                <a:cs typeface="+mn-lt"/>
              </a:rPr>
              <a:t>teoria</a:t>
            </a:r>
            <a:r>
              <a:rPr lang="en-US">
                <a:ea typeface="+mn-lt"/>
                <a:cs typeface="+mn-lt"/>
              </a:rPr>
              <a:t> dos </a:t>
            </a:r>
            <a:r>
              <a:rPr lang="en-US" err="1">
                <a:ea typeface="+mn-lt"/>
                <a:cs typeface="+mn-lt"/>
              </a:rPr>
              <a:t>grafos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em</a:t>
            </a:r>
            <a:r>
              <a:rPr lang="en-US">
                <a:ea typeface="+mn-lt"/>
                <a:cs typeface="+mn-lt"/>
              </a:rPr>
              <a:t> que </a:t>
            </a:r>
            <a:r>
              <a:rPr lang="en-US" err="1">
                <a:ea typeface="+mn-lt"/>
                <a:cs typeface="+mn-lt"/>
              </a:rPr>
              <a:t>regiões</a:t>
            </a:r>
            <a:r>
              <a:rPr lang="en-US">
                <a:ea typeface="+mn-lt"/>
                <a:cs typeface="+mn-lt"/>
              </a:rPr>
              <a:t> de um </a:t>
            </a:r>
            <a:r>
              <a:rPr lang="en-US" err="1">
                <a:ea typeface="+mn-lt"/>
                <a:cs typeface="+mn-lt"/>
              </a:rPr>
              <a:t>mapa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devem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receber</a:t>
            </a:r>
            <a:r>
              <a:rPr lang="en-US">
                <a:ea typeface="+mn-lt"/>
                <a:cs typeface="+mn-lt"/>
              </a:rPr>
              <a:t> cores </a:t>
            </a:r>
            <a:r>
              <a:rPr lang="en-US" err="1">
                <a:ea typeface="+mn-lt"/>
                <a:cs typeface="+mn-lt"/>
              </a:rPr>
              <a:t>diferentes</a:t>
            </a:r>
            <a:r>
              <a:rPr lang="en-US">
                <a:ea typeface="+mn-lt"/>
                <a:cs typeface="+mn-lt"/>
              </a:rPr>
              <a:t> das </a:t>
            </a:r>
            <a:r>
              <a:rPr lang="en-US" err="1">
                <a:ea typeface="+mn-lt"/>
                <a:cs typeface="+mn-lt"/>
              </a:rPr>
              <a:t>regiões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adjacentes</a:t>
            </a:r>
            <a:r>
              <a:rPr lang="en-US">
                <a:ea typeface="+mn-lt"/>
                <a:cs typeface="+mn-lt"/>
              </a:rPr>
              <a:t> para que </a:t>
            </a:r>
            <a:r>
              <a:rPr lang="en-US" err="1">
                <a:ea typeface="+mn-lt"/>
                <a:cs typeface="+mn-lt"/>
              </a:rPr>
              <a:t>não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compartilhem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mesma</a:t>
            </a:r>
            <a:r>
              <a:rPr lang="en-US">
                <a:ea typeface="+mn-lt"/>
                <a:cs typeface="+mn-lt"/>
              </a:rPr>
              <a:t> cor. </a:t>
            </a:r>
          </a:p>
          <a:p>
            <a:pPr marL="347345" indent="-347345"/>
            <a:r>
              <a:rPr lang="en-US" err="1">
                <a:ea typeface="+mn-lt"/>
                <a:cs typeface="+mn-lt"/>
              </a:rPr>
              <a:t>Entretanto</a:t>
            </a:r>
            <a:r>
              <a:rPr lang="en-US">
                <a:ea typeface="+mn-lt"/>
                <a:cs typeface="+mn-lt"/>
              </a:rPr>
              <a:t>, a </a:t>
            </a:r>
            <a:r>
              <a:rPr lang="en-US" err="1">
                <a:ea typeface="+mn-lt"/>
                <a:cs typeface="+mn-lt"/>
              </a:rPr>
              <a:t>coloração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tradicional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mapas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considera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apenas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adjacência</a:t>
            </a:r>
            <a:r>
              <a:rPr lang="en-US">
                <a:ea typeface="+mn-lt"/>
                <a:cs typeface="+mn-lt"/>
              </a:rPr>
              <a:t> da </a:t>
            </a:r>
            <a:r>
              <a:rPr lang="en-US" err="1">
                <a:ea typeface="+mn-lt"/>
                <a:cs typeface="+mn-lt"/>
              </a:rPr>
              <a:t>região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enquanto</a:t>
            </a:r>
            <a:r>
              <a:rPr lang="en-US">
                <a:ea typeface="+mn-lt"/>
                <a:cs typeface="+mn-lt"/>
              </a:rPr>
              <a:t> um </a:t>
            </a:r>
            <a:r>
              <a:rPr lang="en-US" err="1">
                <a:ea typeface="+mn-lt"/>
                <a:cs typeface="+mn-lt"/>
              </a:rPr>
              <a:t>problema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mais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detalhado</a:t>
            </a:r>
            <a:r>
              <a:rPr lang="en-US">
                <a:ea typeface="+mn-lt"/>
                <a:cs typeface="+mn-lt"/>
              </a:rPr>
              <a:t> surge </a:t>
            </a:r>
            <a:r>
              <a:rPr lang="en-US" err="1">
                <a:ea typeface="+mn-lt"/>
                <a:cs typeface="+mn-lt"/>
              </a:rPr>
              <a:t>ao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estender</a:t>
            </a:r>
            <a:r>
              <a:rPr lang="en-US">
                <a:ea typeface="+mn-lt"/>
                <a:cs typeface="+mn-lt"/>
              </a:rPr>
              <a:t>-se o </a:t>
            </a:r>
            <a:r>
              <a:rPr lang="en-US" err="1">
                <a:ea typeface="+mn-lt"/>
                <a:cs typeface="+mn-lt"/>
              </a:rPr>
              <a:t>conceito</a:t>
            </a:r>
            <a:r>
              <a:rPr lang="en-US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coloração</a:t>
            </a:r>
            <a:r>
              <a:rPr lang="en-US">
                <a:ea typeface="+mn-lt"/>
                <a:cs typeface="+mn-lt"/>
              </a:rPr>
              <a:t> total de </a:t>
            </a:r>
            <a:r>
              <a:rPr lang="en-US" err="1">
                <a:ea typeface="+mn-lt"/>
                <a:cs typeface="+mn-lt"/>
              </a:rPr>
              <a:t>grafos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7345" indent="-347345"/>
            <a:r>
              <a:rPr lang="en-US"/>
              <a:t>Dessa forma, </a:t>
            </a:r>
            <a:r>
              <a:rPr lang="en-US" err="1"/>
              <a:t>mapas</a:t>
            </a:r>
            <a:r>
              <a:rPr lang="en-US"/>
              <a:t> que </a:t>
            </a:r>
            <a:r>
              <a:rPr lang="en-US" err="1"/>
              <a:t>demandem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coloração</a:t>
            </a:r>
            <a:r>
              <a:rPr lang="en-US"/>
              <a:t> </a:t>
            </a:r>
            <a:r>
              <a:rPr lang="en-US" err="1"/>
              <a:t>simultânea</a:t>
            </a:r>
            <a:r>
              <a:rPr lang="en-US"/>
              <a:t> de </a:t>
            </a:r>
            <a:r>
              <a:rPr lang="en-US" err="1"/>
              <a:t>regiões</a:t>
            </a:r>
            <a:r>
              <a:rPr lang="en-US"/>
              <a:t> e </a:t>
            </a:r>
            <a:r>
              <a:rPr lang="en-US" err="1"/>
              <a:t>fronteiras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mapas</a:t>
            </a:r>
            <a:r>
              <a:rPr lang="en-US"/>
              <a:t> </a:t>
            </a:r>
            <a:r>
              <a:rPr lang="en-US" err="1"/>
              <a:t>políticos</a:t>
            </a:r>
            <a:r>
              <a:rPr lang="en-US"/>
              <a:t> que </a:t>
            </a:r>
            <a:r>
              <a:rPr lang="en-US" err="1"/>
              <a:t>expressem</a:t>
            </a:r>
            <a:r>
              <a:rPr lang="en-US"/>
              <a:t> posses </a:t>
            </a:r>
            <a:r>
              <a:rPr lang="en-US" err="1"/>
              <a:t>territoriais</a:t>
            </a:r>
            <a:r>
              <a:rPr lang="en-US"/>
              <a:t>, </a:t>
            </a:r>
            <a:r>
              <a:rPr lang="en-US" err="1"/>
              <a:t>mapas</a:t>
            </a:r>
            <a:r>
              <a:rPr lang="en-US"/>
              <a:t> </a:t>
            </a:r>
            <a:r>
              <a:rPr lang="en-US" err="1"/>
              <a:t>temáticos</a:t>
            </a:r>
            <a:r>
              <a:rPr lang="en-US"/>
              <a:t> que </a:t>
            </a:r>
            <a:r>
              <a:rPr lang="en-US" err="1"/>
              <a:t>expressem</a:t>
            </a:r>
            <a:r>
              <a:rPr lang="en-US"/>
              <a:t> </a:t>
            </a:r>
            <a:r>
              <a:rPr lang="en-US" err="1"/>
              <a:t>relações</a:t>
            </a:r>
            <a:r>
              <a:rPr lang="en-US"/>
              <a:t> entre </a:t>
            </a:r>
            <a:r>
              <a:rPr lang="en-US" err="1"/>
              <a:t>categorias</a:t>
            </a:r>
            <a:r>
              <a:rPr lang="en-US"/>
              <a:t> (</a:t>
            </a:r>
            <a:r>
              <a:rPr lang="en-US" err="1"/>
              <a:t>bioma</a:t>
            </a:r>
            <a:r>
              <a:rPr lang="en-US"/>
              <a:t>, </a:t>
            </a:r>
            <a:r>
              <a:rPr lang="en-US" err="1"/>
              <a:t>clima</a:t>
            </a:r>
            <a:r>
              <a:rPr lang="en-US"/>
              <a:t>, </a:t>
            </a:r>
            <a:r>
              <a:rPr lang="en-US" err="1"/>
              <a:t>relevo</a:t>
            </a:r>
            <a:r>
              <a:rPr lang="en-US"/>
              <a:t>, etc.) e o </a:t>
            </a:r>
            <a:r>
              <a:rPr lang="en-US" err="1"/>
              <a:t>mapeamento</a:t>
            </a:r>
            <a:r>
              <a:rPr lang="en-US"/>
              <a:t> de </a:t>
            </a:r>
            <a:r>
              <a:rPr lang="en-US" err="1"/>
              <a:t>rodovias</a:t>
            </a:r>
            <a:r>
              <a:rPr lang="en-US"/>
              <a:t> </a:t>
            </a:r>
            <a:r>
              <a:rPr lang="en-US" err="1"/>
              <a:t>representam</a:t>
            </a:r>
            <a:r>
              <a:rPr lang="en-US"/>
              <a:t> </a:t>
            </a:r>
            <a:r>
              <a:rPr lang="en-US" err="1"/>
              <a:t>aplicações</a:t>
            </a:r>
            <a:r>
              <a:rPr lang="en-US"/>
              <a:t> da </a:t>
            </a:r>
            <a:r>
              <a:rPr lang="en-US" err="1"/>
              <a:t>coloração</a:t>
            </a:r>
            <a:r>
              <a:rPr lang="en-US"/>
              <a:t> total à </a:t>
            </a:r>
            <a:r>
              <a:rPr lang="en-US" err="1"/>
              <a:t>cartografia</a:t>
            </a:r>
            <a:r>
              <a:rPr lang="en-US"/>
              <a:t>.</a:t>
            </a:r>
          </a:p>
          <a:p>
            <a:pPr marL="347345" indent="-347345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D1DE2-E3BA-D3CA-5AA3-4C5E4B2EF7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3" name="Picture 2" descr="Mapa America Do Sul Vetores, Ícones e Planos de Fundo para Baixar Grátis">
            <a:extLst>
              <a:ext uri="{FF2B5EF4-FFF2-40B4-BE49-F238E27FC236}">
                <a16:creationId xmlns:a16="http://schemas.microsoft.com/office/drawing/2014/main" id="{0FB76E74-68B2-846A-2C6D-CA18107BA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97" y="1717221"/>
            <a:ext cx="2743200" cy="2743200"/>
          </a:xfrm>
          <a:prstGeom prst="rect">
            <a:avLst/>
          </a:prstGeom>
        </p:spPr>
      </p:pic>
      <p:pic>
        <p:nvPicPr>
          <p:cNvPr id="9" name="Picture Placeholder 8" descr="Mapa America Do Sul Vetores, Ícones e Planos de Fundo para Baixar Grátis">
            <a:extLst>
              <a:ext uri="{FF2B5EF4-FFF2-40B4-BE49-F238E27FC236}">
                <a16:creationId xmlns:a16="http://schemas.microsoft.com/office/drawing/2014/main" id="{78B05785-B9D8-98B4-A93B-2063660B16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3487" r="13487"/>
          <a:stretch/>
        </p:blipFill>
        <p:spPr/>
      </p:pic>
    </p:spTree>
    <p:extLst>
      <p:ext uri="{BB962C8B-B14F-4D97-AF65-F5344CB8AC3E}">
        <p14:creationId xmlns:p14="http://schemas.microsoft.com/office/powerpoint/2010/main" val="1365432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E08C-2F89-200F-84EA-31CF75D7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D026-5CA1-FAE7-D3A2-C04B4CE1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/>
          <a:lstStyle/>
          <a:p>
            <a:r>
              <a:rPr lang="en-US" err="1"/>
              <a:t>Alocação</a:t>
            </a:r>
            <a:r>
              <a:rPr lang="en-US"/>
              <a:t> de </a:t>
            </a:r>
            <a:r>
              <a:rPr lang="en-US" err="1"/>
              <a:t>Recursos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CD6C84-B351-E84B-6EF7-F9D452F2BB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5306" y="1536827"/>
            <a:ext cx="6700020" cy="4479925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Um </a:t>
            </a:r>
            <a:r>
              <a:rPr lang="en-US" err="1"/>
              <a:t>exemplo</a:t>
            </a:r>
            <a:r>
              <a:rPr lang="en-US"/>
              <a:t> de </a:t>
            </a:r>
            <a:r>
              <a:rPr lang="en-US" err="1"/>
              <a:t>utilização</a:t>
            </a:r>
            <a:r>
              <a:rPr lang="en-US"/>
              <a:t> de </a:t>
            </a:r>
            <a:r>
              <a:rPr lang="en-US" err="1"/>
              <a:t>grafos</a:t>
            </a:r>
            <a:r>
              <a:rPr lang="en-US"/>
              <a:t> </a:t>
            </a:r>
            <a:r>
              <a:rPr lang="en-US" err="1"/>
              <a:t>bipartidos</a:t>
            </a:r>
            <a:r>
              <a:rPr lang="en-US"/>
              <a:t> é </a:t>
            </a:r>
            <a:r>
              <a:rPr lang="en-US" err="1"/>
              <a:t>sua</a:t>
            </a:r>
            <a:r>
              <a:rPr lang="en-US"/>
              <a:t> </a:t>
            </a:r>
            <a:r>
              <a:rPr lang="en-US" err="1"/>
              <a:t>utilização</a:t>
            </a:r>
            <a:r>
              <a:rPr lang="en-US"/>
              <a:t> no </a:t>
            </a:r>
            <a:r>
              <a:rPr lang="en-US" err="1"/>
              <a:t>manejo</a:t>
            </a:r>
            <a:r>
              <a:rPr lang="en-US"/>
              <a:t> de </a:t>
            </a:r>
            <a:r>
              <a:rPr lang="en-US" err="1"/>
              <a:t>horários</a:t>
            </a:r>
            <a:r>
              <a:rPr lang="en-US"/>
              <a:t>. Nesse </a:t>
            </a:r>
            <a:r>
              <a:rPr lang="en-US" err="1"/>
              <a:t>sentido</a:t>
            </a:r>
            <a:r>
              <a:rPr lang="en-US"/>
              <a:t>, </a:t>
            </a:r>
            <a:r>
              <a:rPr lang="en-US" err="1"/>
              <a:t>pode</a:t>
            </a:r>
            <a:r>
              <a:rPr lang="en-US"/>
              <a:t>-se </a:t>
            </a:r>
            <a:r>
              <a:rPr lang="en-US" err="1"/>
              <a:t>modelar</a:t>
            </a:r>
            <a:r>
              <a:rPr lang="en-US"/>
              <a:t> o </a:t>
            </a:r>
            <a:r>
              <a:rPr lang="en-US" err="1"/>
              <a:t>problema</a:t>
            </a:r>
            <a:r>
              <a:rPr lang="en-US"/>
              <a:t> da </a:t>
            </a:r>
            <a:r>
              <a:rPr lang="en-US" err="1"/>
              <a:t>seguinte</a:t>
            </a:r>
            <a:r>
              <a:rPr lang="en-US"/>
              <a:t> forma:</a:t>
            </a:r>
          </a:p>
          <a:p>
            <a:pPr marL="347345" indent="-347345"/>
            <a:r>
              <a:rPr lang="en-US"/>
              <a:t>Seja A um conjunto de </a:t>
            </a:r>
            <a:r>
              <a:rPr lang="en-US" err="1"/>
              <a:t>turmas</a:t>
            </a:r>
            <a:r>
              <a:rPr lang="en-US"/>
              <a:t> e B um conjunto de </a:t>
            </a:r>
            <a:r>
              <a:rPr lang="en-US" err="1"/>
              <a:t>horários</a:t>
            </a:r>
            <a:r>
              <a:rPr lang="en-US"/>
              <a:t> </a:t>
            </a:r>
            <a:r>
              <a:rPr lang="en-US" err="1"/>
              <a:t>disponíveis</a:t>
            </a:r>
            <a:endParaRPr lang="en-US"/>
          </a:p>
          <a:p>
            <a:pPr marL="347345" indent="-347345"/>
            <a:r>
              <a:rPr lang="en-US"/>
              <a:t>Uma </a:t>
            </a:r>
            <a:r>
              <a:rPr lang="en-US" err="1"/>
              <a:t>aresta</a:t>
            </a:r>
            <a:r>
              <a:rPr lang="en-US"/>
              <a:t> (a, b) </a:t>
            </a:r>
            <a:r>
              <a:rPr lang="pt"/>
              <a:t>∈  E, que indica que a turma a pode ser alocada no horário b</a:t>
            </a:r>
            <a:endParaRPr lang="en-US"/>
          </a:p>
          <a:p>
            <a:pPr marL="347345" indent="-347345">
              <a:buNone/>
            </a:pPr>
            <a:r>
              <a:rPr lang="pt"/>
              <a:t>    Usando as noçoes apresentadas podemos separar e diferencia-los usando a coloração e garantir que não haja conflito de alocação dada a propriedas dos grafos bipartidos. </a:t>
            </a:r>
          </a:p>
          <a:p>
            <a:pPr marL="0" indent="0">
              <a:buNone/>
            </a:pPr>
            <a:r>
              <a:rPr lang="pt"/>
              <a:t>Essa utilização gera economia de tempo e recursos, além da automação da criação e da manutenção do alocamento dos recursos para as requisições necessárias. No mais, esse modelo pode servir de base para funções do cotidiano que expreessão grande valor nas atividades da sociedade.</a:t>
            </a:r>
          </a:p>
          <a:p>
            <a:pPr marL="347345" indent="-347345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B83D-F500-2D9F-0BA5-564C4C63D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3" name="Picture 2" descr="Sistemas Operacionais">
            <a:extLst>
              <a:ext uri="{FF2B5EF4-FFF2-40B4-BE49-F238E27FC236}">
                <a16:creationId xmlns:a16="http://schemas.microsoft.com/office/drawing/2014/main" id="{A0FF85E4-69E0-6255-AAD3-4204BCC0F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77" t="694" r="23398" b="1042"/>
          <a:stretch/>
        </p:blipFill>
        <p:spPr>
          <a:xfrm>
            <a:off x="-2068" y="698357"/>
            <a:ext cx="3654044" cy="545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10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8F51-7675-8A7A-576E-2AF54FD4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F79F50-2908-3C8A-0CCE-8F71A87EE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sz="1300" err="1"/>
              <a:t>Seção</a:t>
            </a:r>
            <a:r>
              <a:rPr lang="en-US" sz="1300"/>
              <a:t> 4</a:t>
            </a:r>
            <a:br>
              <a:rPr lang="en-US" sz="1300"/>
            </a:br>
            <a:br>
              <a:rPr lang="en-US" sz="1300"/>
            </a:br>
            <a:endParaRPr lang="en-US" sz="13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07BE8-ED8E-F54A-711A-E2A95C1A1A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2351" y="2816290"/>
            <a:ext cx="5579873" cy="1946807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7900"/>
              <a:t>Conclusões</a:t>
            </a:r>
          </a:p>
          <a:p>
            <a:pPr algn="ctr">
              <a:lnSpc>
                <a:spcPct val="120000"/>
              </a:lnSpc>
            </a:pP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F01D91-4B11-DF73-B313-C7C6FBD61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4946" y="1266452"/>
            <a:ext cx="4890407" cy="48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596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AD089-629C-5DF8-D040-1BDEEAB7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4174-7D44-EC66-85DE-6F7477D7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err="1"/>
              <a:t>COnsiderações</a:t>
            </a:r>
            <a:r>
              <a:rPr lang="en-US"/>
              <a:t> Finais</a:t>
            </a:r>
            <a:br>
              <a:rPr lang="en-US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786140-1500-D2DF-77B1-315EA19E2D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347345" indent="-347345"/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Complexidade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 e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Diversidade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A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coloração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total de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grafos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é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uma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área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rica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em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desafios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aplicações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variando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conforme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classe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do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grafo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analisado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347345" indent="-347345"/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Conexão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 entre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Conceitos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Apesar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das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particularidades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heterogeneidade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cada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tipo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grafo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propriedades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subgrafos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podem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ser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úteis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para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provar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teoremas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lemas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gerais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347345" indent="-347345"/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Aplicações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Práticas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Além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do interesse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matemático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, a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coloração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total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tem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usos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em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programação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, redes 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alocação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recursos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minimizando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conflitos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347345" indent="-347345"/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Desafios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 e Pesquisa Futura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–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Ainda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há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questões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em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aberto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como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determinação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do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número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cromático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total para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certos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grafos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e o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desenvolvimento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algoritmos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eficientes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347345" indent="-347345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5B285-0111-E5E7-F778-5C39AFE486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FF59-8E10-F29E-A2C5-4648D647C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C7D3-0F1A-D1DF-3213-856BAEF2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72" y="573311"/>
            <a:ext cx="5595840" cy="963539"/>
          </a:xfrm>
        </p:spPr>
        <p:txBody>
          <a:bodyPr anchor="t">
            <a:normAutofit fontScale="90000"/>
          </a:bodyPr>
          <a:lstStyle/>
          <a:p>
            <a:r>
              <a:rPr lang="en-US" sz="6800" err="1"/>
              <a:t>Referências</a:t>
            </a:r>
            <a:br>
              <a:rPr lang="en-US" sz="6800"/>
            </a:br>
            <a:endParaRPr lang="en-US" sz="680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539BAD3-6DEE-2959-AB41-4D2BC82B78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9EC0111-292F-CC71-F64E-91D0FACD79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3A3C95C-C442-291E-7A38-5CDF700602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212F86A-36C9-34FF-5F1F-72E01E486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EBF44B-7F40-C6D1-96EE-7B544299A49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52418" y="1536827"/>
            <a:ext cx="11415921" cy="4206756"/>
          </a:xfrm>
        </p:spPr>
        <p:txBody>
          <a:bodyPr vert="horz" lIns="0" tIns="0" rIns="0" bIns="0" rtlCol="0" anchor="t">
            <a:normAutofit fontScale="85000" lnSpcReduction="20000"/>
          </a:bodyPr>
          <a:lstStyle/>
          <a:p>
            <a:pPr marL="347345" indent="-347345">
              <a:lnSpc>
                <a:spcPct val="120000"/>
              </a:lnSpc>
            </a:pP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YAP, Hian-Poh. Total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Colourings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of Graphs. Berlin,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Alemanha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Springer (1996).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Disponível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https://link.springer.com/book/10.1007/BFb0092895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 marL="347345" indent="-347345">
              <a:lnSpc>
                <a:spcPct val="120000"/>
              </a:lnSpc>
            </a:pP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DIETSEL, Reinhard. Graph Theory. 5. ed.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Berlim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Alemanha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Springer (2017).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Disponível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https://link.springer.com/book/10.1007/978-3-662-70107-2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347345" indent="-347345">
              <a:lnSpc>
                <a:spcPct val="120000"/>
              </a:lnSpc>
            </a:pP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SOUSA, Lourdes. O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Teorema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das Quatro Cores. Instituto Politécnico de Viseu (2001).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Disponível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https://repositorio.ipv.pt/entities/publication/c130d938-9174-42af-92cd-653f80287656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347345" indent="-347345">
              <a:lnSpc>
                <a:spcPct val="120000"/>
              </a:lnSpc>
            </a:pP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WANG, H., LIU, B., ZHANG, X. et al. List edge and list total coloring of planar graphs with maximum degree 8. J Comb Optim 32, 188–197 (2016).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Disponível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https://doi.org/10.1007/s10878-015-9870-1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 marL="347345" indent="-347345">
              <a:lnSpc>
                <a:spcPct val="120000"/>
              </a:lnSpc>
            </a:pP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CHANG, J. , LIU, J. and ZHANG, F. On the (Δ + 2)-Total-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Colorability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of Planar Graphs with 7-Cycles Containing at Most Two Chords. Journal of Applied Mathematics and Physics 12, 2702-2710 (2024).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Disponível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10.4236/jamp.2024.127161.</a:t>
            </a:r>
            <a:endParaRPr lang="en-US">
              <a:solidFill>
                <a:schemeClr val="bg1"/>
              </a:solidFill>
            </a:endParaRPr>
          </a:p>
          <a:p>
            <a:pPr marL="347345" indent="-347345">
              <a:lnSpc>
                <a:spcPct val="120000"/>
              </a:lnSpc>
            </a:pP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CAMPOS, Christiane N. O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Problema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da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Coloração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Total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Classes de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Grafos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. Instituto de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Computação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Universidade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Estadual de Campinas (2006).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Disponível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: https://bdtd.ibict.br/vufind/Record UNICAMP-30_73bb9af032e5e1575cfede5af62fe5fa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12EEBF6-35BF-0384-93CC-BCDBEB64AA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36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6DA25-1172-208C-2C26-5E3AF67E1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err="1"/>
              <a:t>Obrigado</a:t>
            </a:r>
            <a:r>
              <a:rPr lang="en-US"/>
              <a:t> </a:t>
            </a:r>
          </a:p>
          <a:p>
            <a:r>
              <a:rPr lang="en-US"/>
              <a:t>pela </a:t>
            </a:r>
            <a:r>
              <a:rPr lang="en-US" err="1"/>
              <a:t>atenção</a:t>
            </a:r>
            <a:r>
              <a:rPr lang="en-US"/>
              <a:t>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856330-96F0-9E63-ABA2-2E5BFB31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9" descr="Grafos Imagens – Procure 1,101 fotos, vetores e vídeos | Adobe Stock">
            <a:extLst>
              <a:ext uri="{FF2B5EF4-FFF2-40B4-BE49-F238E27FC236}">
                <a16:creationId xmlns:a16="http://schemas.microsoft.com/office/drawing/2014/main" id="{1D75BAC7-DDC7-E89E-49CF-CF728E12129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36952" b="36952"/>
          <a:stretch/>
        </p:blipFill>
        <p:spPr>
          <a:xfrm>
            <a:off x="-28754" y="4232234"/>
            <a:ext cx="12490876" cy="2668898"/>
          </a:xfrm>
        </p:spPr>
      </p:pic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46EB691-4DD5-4558-B7D1-3EA8CC81E288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Custom</vt:lpstr>
      <vt:lpstr>MEMBROS: Guilherme andrade, Guilherme Bruce, Rafael Penela, Rafael Sanches</vt:lpstr>
      <vt:lpstr>Tópicos da Apresentação</vt:lpstr>
      <vt:lpstr>Seção 1  </vt:lpstr>
      <vt:lpstr>Coloração Total de Grafos </vt:lpstr>
      <vt:lpstr>Conjectura da Coloração Total (TCC) </vt:lpstr>
      <vt:lpstr>Teorema de Vizing </vt:lpstr>
      <vt:lpstr>TEOREMA DE BROOKS</vt:lpstr>
      <vt:lpstr>Lema para Coloração Total de Subgrafos </vt:lpstr>
      <vt:lpstr>Seção 2  </vt:lpstr>
      <vt:lpstr>Grafos Regulares </vt:lpstr>
      <vt:lpstr>Coloração Total de Grafos Regulares </vt:lpstr>
      <vt:lpstr>Grafos Completos </vt:lpstr>
      <vt:lpstr>Coloração Total de Grafos Completos </vt:lpstr>
      <vt:lpstr>Apresentação do PowerPoint</vt:lpstr>
      <vt:lpstr>Apresentação do PowerPoint</vt:lpstr>
      <vt:lpstr>Grafos de Δ(𝐺) Pequeno ou Grande </vt:lpstr>
      <vt:lpstr>Coloração Total de Grafos com base no Δ(G)</vt:lpstr>
      <vt:lpstr>Grafos com Δ(G) suficientemente pequeno </vt:lpstr>
      <vt:lpstr>Grafos com Δ(G) suficientemente pequeno </vt:lpstr>
      <vt:lpstr>Grafos com Δ(G) suficientemente pequeno </vt:lpstr>
      <vt:lpstr>Grafos com Δ(G) suficientemente pequeno </vt:lpstr>
      <vt:lpstr>Grafos com Δ(G) suficientemente pequeno </vt:lpstr>
      <vt:lpstr>Grafos com Δ(G) suficientemente Grande </vt:lpstr>
      <vt:lpstr>Grafos Planares </vt:lpstr>
      <vt:lpstr>Grafo Planar </vt:lpstr>
      <vt:lpstr>Teorema de Euler </vt:lpstr>
      <vt:lpstr>Teorema das QUatro cores </vt:lpstr>
      <vt:lpstr>Coloração Total de Grafos Planares </vt:lpstr>
      <vt:lpstr>Coloração Total de Grafos Planares </vt:lpstr>
      <vt:lpstr>Grafos               r-partidos </vt:lpstr>
      <vt:lpstr>Coloração Total de Grafos r-partidos </vt:lpstr>
      <vt:lpstr>Coloração Total de Grafos Bipartidos </vt:lpstr>
      <vt:lpstr>Casos Não Comprovaos</vt:lpstr>
      <vt:lpstr>Casos não comprovados </vt:lpstr>
      <vt:lpstr>Seção 3  </vt:lpstr>
      <vt:lpstr>Planejamento de um Torneio</vt:lpstr>
      <vt:lpstr>Cartografia </vt:lpstr>
      <vt:lpstr>Alocação de Recursos</vt:lpstr>
      <vt:lpstr>Seção 4  </vt:lpstr>
      <vt:lpstr>COnsiderações Finais </vt:lpstr>
      <vt:lpstr>Referências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22</cp:revision>
  <dcterms:created xsi:type="dcterms:W3CDTF">2025-02-06T16:30:54Z</dcterms:created>
  <dcterms:modified xsi:type="dcterms:W3CDTF">2025-02-13T18:00:22Z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